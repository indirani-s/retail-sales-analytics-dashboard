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4" r:id="rId6"/>
    <p:sldId id="260" r:id="rId7"/>
    <p:sldId id="268" r:id="rId8"/>
    <p:sldId id="261" r:id="rId9"/>
    <p:sldId id="262" r:id="rId10"/>
    <p:sldId id="263" r:id="rId11"/>
    <p:sldId id="265" r:id="rId12"/>
    <p:sldId id="266" r:id="rId13"/>
    <p:sldId id="267"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94660"/>
  </p:normalViewPr>
  <p:slideViewPr>
    <p:cSldViewPr>
      <p:cViewPr>
        <p:scale>
          <a:sx n="118" d="100"/>
          <a:sy n="118" d="100"/>
        </p:scale>
        <p:origin x="-1464" y="19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6BACF2-F236-41AC-8E42-8666D1F73FC3}" type="doc">
      <dgm:prSet loTypeId="urn:microsoft.com/office/officeart/2005/8/layout/vList2" loCatId="list" qsTypeId="urn:microsoft.com/office/officeart/2005/8/quickstyle/simple1" qsCatId="simple" csTypeId="urn:microsoft.com/office/officeart/2005/8/colors/colorful4" csCatId="colorful"/>
      <dgm:spPr/>
      <dgm:t xml:space="preserve">
        <a:bodyPr/>
        <a:lstStyle/>
        <a:p>
          <a:endParaRPr lang="en-IN"/>
        </a:p>
      </dgm:t>
    </dgm:pt>
    <dgm:pt modelId="{5AD5E72E-F870-4D64-9859-35BC5B082C66}">
      <dgm:prSet/>
      <dgm:spPr/>
      <dgm:t xml:space="preserve">
        <a:bodyPr/>
        <a:lstStyle/>
        <a:p>
          <a:pPr rtl="0"/>
          <a:r>
            <a:rPr lang="en-US" smtClean="0"/>
            <a:t>Excel formulas such as SUM, AVERAGE, FILTER, VLOOKUP, TEXT FUNCTIONS, TRIM were used to clean data, calculated key metrics and also used pivot tables to organize and analyze the sales data with visualization</a:t>
          </a:r>
          <a:endParaRPr lang="en-IN"/>
        </a:p>
      </dgm:t>
    </dgm:pt>
    <dgm:pt modelId="{776213B4-6AB6-4FFD-80B7-1D0A1ADA11BA}" type="parTrans" cxnId="{ED31DA36-489B-46F2-B702-150AE6BC447D}">
      <dgm:prSet/>
      <dgm:spPr/>
      <dgm:t xml:space="preserve">
        <a:bodyPr/>
        <a:lstStyle/>
        <a:p>
          <a:endParaRPr lang="en-IN"/>
        </a:p>
      </dgm:t>
    </dgm:pt>
    <dgm:pt modelId="{F5D235E0-CFE6-4AAB-A631-824F1BAD56D0}" type="sibTrans" cxnId="{ED31DA36-489B-46F2-B702-150AE6BC447D}">
      <dgm:prSet/>
      <dgm:spPr/>
      <dgm:t xml:space="preserve">
        <a:bodyPr/>
        <a:lstStyle/>
        <a:p>
          <a:endParaRPr lang="en-IN"/>
        </a:p>
      </dgm:t>
    </dgm:pt>
    <dgm:pt modelId="{5E14F295-CE7D-45CF-A59C-4CD522CF5E92}" type="pres">
      <dgm:prSet presAssocID="{776BACF2-F236-41AC-8E42-8666D1F73FC3}" presName="linear" presStyleCnt="0">
        <dgm:presLayoutVars>
          <dgm:animLvl val="lvl"/>
          <dgm:resizeHandles val="exact"/>
        </dgm:presLayoutVars>
      </dgm:prSet>
      <dgm:spPr/>
      <dgm:t xml:space="preserve">
        <a:bodyPr/>
        <a:lstStyle/>
        <a:p>
          <a:endParaRPr lang="en-IN"/>
        </a:p>
      </dgm:t>
    </dgm:pt>
    <dgm:pt modelId="{7D821E8D-FF68-4224-9A53-A596AD5FAC60}" type="pres">
      <dgm:prSet presAssocID="{5AD5E72E-F870-4D64-9859-35BC5B082C66}" presName="parentText" presStyleLbl="node1" presStyleIdx="0" presStyleCnt="1">
        <dgm:presLayoutVars>
          <dgm:chMax val="0"/>
          <dgm:bulletEnabled val="1"/>
        </dgm:presLayoutVars>
      </dgm:prSet>
      <dgm:spPr/>
      <dgm:t xml:space="preserve">
        <a:bodyPr/>
        <a:lstStyle/>
        <a:p>
          <a:endParaRPr lang="en-IN"/>
        </a:p>
      </dgm:t>
    </dgm:pt>
  </dgm:ptLst>
  <dgm:cxnLst>
    <dgm:cxn modelId="{ED31DA36-489B-46F2-B702-150AE6BC447D}" srcId="{776BACF2-F236-41AC-8E42-8666D1F73FC3}" destId="{5AD5E72E-F870-4D64-9859-35BC5B082C66}" srcOrd="0" destOrd="0" parTransId="{776213B4-6AB6-4FFD-80B7-1D0A1ADA11BA}" sibTransId="{F5D235E0-CFE6-4AAB-A631-824F1BAD56D0}"/>
    <dgm:cxn modelId="{B72F9836-777A-4F11-8F4F-673C17D23E84}" type="presOf" srcId="{776BACF2-F236-41AC-8E42-8666D1F73FC3}" destId="{5E14F295-CE7D-45CF-A59C-4CD522CF5E92}" srcOrd="0" destOrd="0" presId="urn:microsoft.com/office/officeart/2005/8/layout/vList2"/>
    <dgm:cxn modelId="{143CE6D5-5FC1-42C7-997F-9A5BF485FBFA}" type="presOf" srcId="{5AD5E72E-F870-4D64-9859-35BC5B082C66}" destId="{7D821E8D-FF68-4224-9A53-A596AD5FAC60}" srcOrd="0" destOrd="0" presId="urn:microsoft.com/office/officeart/2005/8/layout/vList2"/>
    <dgm:cxn modelId="{800310E9-5B6F-4257-A32B-D9ECA4953831}" type="presParOf" srcId="{5E14F295-CE7D-45CF-A59C-4CD522CF5E92}" destId="{7D821E8D-FF68-4224-9A53-A596AD5FAC6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37373C-49D2-4AFF-B541-2EC6645EC954}" type="doc">
      <dgm:prSet loTypeId="urn:microsoft.com/office/officeart/2005/8/layout/list1" loCatId="list" qsTypeId="urn:microsoft.com/office/officeart/2005/8/quickstyle/simple1" qsCatId="simple" csTypeId="urn:microsoft.com/office/officeart/2005/8/colors/colorful4" csCatId="colorful"/>
      <dgm:spPr/>
      <dgm:t xml:space="preserve">
        <a:bodyPr/>
        <a:lstStyle/>
        <a:p>
          <a:endParaRPr lang="en-IN"/>
        </a:p>
      </dgm:t>
    </dgm:pt>
    <dgm:pt modelId="{FABF2E6A-3A10-44E3-9343-D0405C4815D8}">
      <dgm:prSet/>
      <dgm:spPr/>
      <dgm:t xml:space="preserve">
        <a:bodyPr/>
        <a:lstStyle/>
        <a:p>
          <a:pPr rtl="0"/>
          <a:r>
            <a:rPr lang="en-US" smtClean="0"/>
            <a:t>EXCEL HEADERS</a:t>
          </a:r>
          <a:endParaRPr lang="en-IN"/>
        </a:p>
      </dgm:t>
    </dgm:pt>
    <dgm:pt modelId="{A7E673FC-60D7-4D67-A7A8-927BDC3995DA}" type="parTrans" cxnId="{48311B6F-D732-43A6-B6DD-6F2F44C28635}">
      <dgm:prSet/>
      <dgm:spPr/>
      <dgm:t xml:space="preserve">
        <a:bodyPr/>
        <a:lstStyle/>
        <a:p>
          <a:endParaRPr lang="en-IN"/>
        </a:p>
      </dgm:t>
    </dgm:pt>
    <dgm:pt modelId="{4DA0DAFB-FAF9-400E-B115-B1886746E216}" type="sibTrans" cxnId="{48311B6F-D732-43A6-B6DD-6F2F44C28635}">
      <dgm:prSet/>
      <dgm:spPr/>
      <dgm:t xml:space="preserve">
        <a:bodyPr/>
        <a:lstStyle/>
        <a:p>
          <a:endParaRPr lang="en-IN"/>
        </a:p>
      </dgm:t>
    </dgm:pt>
    <dgm:pt modelId="{6EC3AE20-48A8-426E-90C7-3DFBAE4985BA}">
      <dgm:prSet/>
      <dgm:spPr/>
      <dgm:t xml:space="preserve">
        <a:bodyPr/>
        <a:lstStyle/>
        <a:p>
          <a:pPr rtl="0"/>
          <a:r>
            <a:rPr lang="en-US" smtClean="0"/>
            <a:t>Transaction date</a:t>
          </a:r>
          <a:endParaRPr lang="en-IN"/>
        </a:p>
      </dgm:t>
    </dgm:pt>
    <dgm:pt modelId="{80DC837C-B5AC-44F7-87CF-C33F6C6FE5AC}" type="parTrans" cxnId="{FB572395-6FAB-4605-967D-A3A2CEF02F4F}">
      <dgm:prSet/>
      <dgm:spPr/>
      <dgm:t xml:space="preserve">
        <a:bodyPr/>
        <a:lstStyle/>
        <a:p>
          <a:endParaRPr lang="en-IN"/>
        </a:p>
      </dgm:t>
    </dgm:pt>
    <dgm:pt modelId="{45F5DD11-39E5-4AA1-AA77-0EAC332F61D7}" type="sibTrans" cxnId="{FB572395-6FAB-4605-967D-A3A2CEF02F4F}">
      <dgm:prSet/>
      <dgm:spPr/>
      <dgm:t xml:space="preserve">
        <a:bodyPr/>
        <a:lstStyle/>
        <a:p>
          <a:endParaRPr lang="en-IN"/>
        </a:p>
      </dgm:t>
    </dgm:pt>
    <dgm:pt modelId="{490BD715-B541-43E4-80D3-D8CC4C4B1DD4}">
      <dgm:prSet/>
      <dgm:spPr/>
      <dgm:t xml:space="preserve">
        <a:bodyPr/>
        <a:lstStyle/>
        <a:p>
          <a:pPr rtl="0"/>
          <a:r>
            <a:rPr lang="en-US" smtClean="0"/>
            <a:t>Buyer name and location</a:t>
          </a:r>
          <a:endParaRPr lang="en-IN"/>
        </a:p>
      </dgm:t>
    </dgm:pt>
    <dgm:pt modelId="{8A0FAE12-9A0A-40E3-90C1-997D92B0CF52}" type="parTrans" cxnId="{222DB57E-16E0-46F0-8263-C22CE2A5761A}">
      <dgm:prSet/>
      <dgm:spPr/>
      <dgm:t xml:space="preserve">
        <a:bodyPr/>
        <a:lstStyle/>
        <a:p>
          <a:endParaRPr lang="en-IN"/>
        </a:p>
      </dgm:t>
    </dgm:pt>
    <dgm:pt modelId="{B417FEBE-E348-4842-AE90-85246B576250}" type="sibTrans" cxnId="{222DB57E-16E0-46F0-8263-C22CE2A5761A}">
      <dgm:prSet/>
      <dgm:spPr/>
      <dgm:t xml:space="preserve">
        <a:bodyPr/>
        <a:lstStyle/>
        <a:p>
          <a:endParaRPr lang="en-IN"/>
        </a:p>
      </dgm:t>
    </dgm:pt>
    <dgm:pt modelId="{F4AF6C7E-E686-473D-9C02-C9F185FE6313}">
      <dgm:prSet/>
      <dgm:spPr/>
      <dgm:t xml:space="preserve">
        <a:bodyPr/>
        <a:lstStyle/>
        <a:p>
          <a:pPr rtl="0"/>
          <a:r>
            <a:rPr lang="en-US" smtClean="0"/>
            <a:t>Buyer date of birth</a:t>
          </a:r>
          <a:endParaRPr lang="en-IN"/>
        </a:p>
      </dgm:t>
    </dgm:pt>
    <dgm:pt modelId="{99E6491A-E3A7-4A1E-BE50-3DAB687A28D4}" type="parTrans" cxnId="{203710F0-0A87-4C20-B8D0-84F26B2B18F8}">
      <dgm:prSet/>
      <dgm:spPr/>
      <dgm:t xml:space="preserve">
        <a:bodyPr/>
        <a:lstStyle/>
        <a:p>
          <a:endParaRPr lang="en-IN"/>
        </a:p>
      </dgm:t>
    </dgm:pt>
    <dgm:pt modelId="{34806006-3523-464E-834B-336EC96386C4}" type="sibTrans" cxnId="{203710F0-0A87-4C20-B8D0-84F26B2B18F8}">
      <dgm:prSet/>
      <dgm:spPr/>
      <dgm:t xml:space="preserve">
        <a:bodyPr/>
        <a:lstStyle/>
        <a:p>
          <a:endParaRPr lang="en-IN"/>
        </a:p>
      </dgm:t>
    </dgm:pt>
    <dgm:pt modelId="{F6F749CD-4637-42A7-9176-2874EDE14D7C}">
      <dgm:prSet/>
      <dgm:spPr/>
      <dgm:t xml:space="preserve">
        <a:bodyPr/>
        <a:lstStyle/>
        <a:p>
          <a:pPr rtl="0"/>
          <a:r>
            <a:rPr lang="en-US" smtClean="0"/>
            <a:t>Payment method</a:t>
          </a:r>
          <a:endParaRPr lang="en-IN"/>
        </a:p>
      </dgm:t>
    </dgm:pt>
    <dgm:pt modelId="{9FFE31EA-2024-49D3-BC8A-C30469F5C8C7}" type="parTrans" cxnId="{2968F799-BDAF-4206-981B-3EC7E2EFEC51}">
      <dgm:prSet/>
      <dgm:spPr/>
      <dgm:t xml:space="preserve">
        <a:bodyPr/>
        <a:lstStyle/>
        <a:p>
          <a:endParaRPr lang="en-IN"/>
        </a:p>
      </dgm:t>
    </dgm:pt>
    <dgm:pt modelId="{DC087DC4-443C-4746-A97D-B638B66DC276}" type="sibTrans" cxnId="{2968F799-BDAF-4206-981B-3EC7E2EFEC51}">
      <dgm:prSet/>
      <dgm:spPr/>
      <dgm:t xml:space="preserve">
        <a:bodyPr/>
        <a:lstStyle/>
        <a:p>
          <a:endParaRPr lang="en-IN"/>
        </a:p>
      </dgm:t>
    </dgm:pt>
    <dgm:pt modelId="{F94C986E-ADBB-4113-9061-012C78253C8C}">
      <dgm:prSet/>
      <dgm:spPr/>
      <dgm:t xml:space="preserve">
        <a:bodyPr/>
        <a:lstStyle/>
        <a:p>
          <a:pPr rtl="0"/>
          <a:r>
            <a:rPr lang="en-US" smtClean="0"/>
            <a:t>Quantity purchased</a:t>
          </a:r>
          <a:endParaRPr lang="en-IN"/>
        </a:p>
      </dgm:t>
    </dgm:pt>
    <dgm:pt modelId="{C3B4DBF6-5CC9-47BD-B03B-DA2A9073E979}" type="parTrans" cxnId="{7B48CEFB-12A6-418E-B5FA-EB542FBF6BFB}">
      <dgm:prSet/>
      <dgm:spPr/>
      <dgm:t xml:space="preserve">
        <a:bodyPr/>
        <a:lstStyle/>
        <a:p>
          <a:endParaRPr lang="en-IN"/>
        </a:p>
      </dgm:t>
    </dgm:pt>
    <dgm:pt modelId="{F906F7FC-C7EA-4078-89D3-E754781155D5}" type="sibTrans" cxnId="{7B48CEFB-12A6-418E-B5FA-EB542FBF6BFB}">
      <dgm:prSet/>
      <dgm:spPr/>
      <dgm:t xml:space="preserve">
        <a:bodyPr/>
        <a:lstStyle/>
        <a:p>
          <a:endParaRPr lang="en-IN"/>
        </a:p>
      </dgm:t>
    </dgm:pt>
    <dgm:pt modelId="{36B15EBA-CA2D-4B5D-BDE0-A0ADA00E7438}">
      <dgm:prSet/>
      <dgm:spPr/>
      <dgm:t xml:space="preserve">
        <a:bodyPr/>
        <a:lstStyle/>
        <a:p>
          <a:pPr rtl="0"/>
          <a:r>
            <a:rPr lang="en-US" smtClean="0"/>
            <a:t>Product code</a:t>
          </a:r>
          <a:endParaRPr lang="en-IN"/>
        </a:p>
      </dgm:t>
    </dgm:pt>
    <dgm:pt modelId="{C3ECEF64-3B85-4A28-B745-FB0D44048286}" type="parTrans" cxnId="{FFE782ED-1464-4223-B577-FBAFCE9D12A8}">
      <dgm:prSet/>
      <dgm:spPr/>
      <dgm:t xml:space="preserve">
        <a:bodyPr/>
        <a:lstStyle/>
        <a:p>
          <a:endParaRPr lang="en-IN"/>
        </a:p>
      </dgm:t>
    </dgm:pt>
    <dgm:pt modelId="{567A0EB2-1D0C-439C-86D5-0FC002FCAA26}" type="sibTrans" cxnId="{FFE782ED-1464-4223-B577-FBAFCE9D12A8}">
      <dgm:prSet/>
      <dgm:spPr/>
      <dgm:t xml:space="preserve">
        <a:bodyPr/>
        <a:lstStyle/>
        <a:p>
          <a:endParaRPr lang="en-IN"/>
        </a:p>
      </dgm:t>
    </dgm:pt>
    <dgm:pt modelId="{174CAC9B-19D1-4BBB-B46E-377A36AEAEB6}">
      <dgm:prSet/>
      <dgm:spPr/>
      <dgm:t xml:space="preserve">
        <a:bodyPr/>
        <a:lstStyle/>
        <a:p>
          <a:pPr rtl="0"/>
          <a:r>
            <a:rPr lang="en-US" smtClean="0"/>
            <a:t>Sales representative</a:t>
          </a:r>
          <a:endParaRPr lang="en-IN"/>
        </a:p>
      </dgm:t>
    </dgm:pt>
    <dgm:pt modelId="{485CBE42-F1F8-4288-B278-C91D8E43663C}" type="parTrans" cxnId="{403C600A-764D-4AB7-981B-114D627B1297}">
      <dgm:prSet/>
      <dgm:spPr/>
      <dgm:t xml:space="preserve">
        <a:bodyPr/>
        <a:lstStyle/>
        <a:p>
          <a:endParaRPr lang="en-IN"/>
        </a:p>
      </dgm:t>
    </dgm:pt>
    <dgm:pt modelId="{FCDDED12-0B99-4A21-8BD2-99D77EFA4CD5}" type="sibTrans" cxnId="{403C600A-764D-4AB7-981B-114D627B1297}">
      <dgm:prSet/>
      <dgm:spPr/>
      <dgm:t xml:space="preserve">
        <a:bodyPr/>
        <a:lstStyle/>
        <a:p>
          <a:endParaRPr lang="en-IN"/>
        </a:p>
      </dgm:t>
    </dgm:pt>
    <dgm:pt modelId="{343572C3-15AF-430B-9CB8-F991FCEF57C7}">
      <dgm:prSet/>
      <dgm:spPr/>
      <dgm:t xml:space="preserve">
        <a:bodyPr/>
        <a:lstStyle/>
        <a:p>
          <a:pPr rtl="0"/>
          <a:r>
            <a:rPr lang="en-US" smtClean="0"/>
            <a:t>gender</a:t>
          </a:r>
          <a:endParaRPr lang="en-IN"/>
        </a:p>
      </dgm:t>
    </dgm:pt>
    <dgm:pt modelId="{F9E0AEDC-745B-4A0C-B046-6CB4CD6AA13C}" type="parTrans" cxnId="{0267B320-D942-4408-A898-A409A86EF657}">
      <dgm:prSet/>
      <dgm:spPr/>
      <dgm:t xml:space="preserve">
        <a:bodyPr/>
        <a:lstStyle/>
        <a:p>
          <a:endParaRPr lang="en-IN"/>
        </a:p>
      </dgm:t>
    </dgm:pt>
    <dgm:pt modelId="{054A014E-DF1D-45CC-B9A3-C76083C69B74}" type="sibTrans" cxnId="{0267B320-D942-4408-A898-A409A86EF657}">
      <dgm:prSet/>
      <dgm:spPr/>
      <dgm:t xml:space="preserve">
        <a:bodyPr/>
        <a:lstStyle/>
        <a:p>
          <a:endParaRPr lang="en-IN"/>
        </a:p>
      </dgm:t>
    </dgm:pt>
    <dgm:pt modelId="{4718F140-14EA-47FE-A599-15D73640969E}" type="pres">
      <dgm:prSet presAssocID="{6937373C-49D2-4AFF-B541-2EC6645EC954}" presName="linear" presStyleCnt="0">
        <dgm:presLayoutVars>
          <dgm:dir/>
          <dgm:animLvl val="lvl"/>
          <dgm:resizeHandles val="exact"/>
        </dgm:presLayoutVars>
      </dgm:prSet>
      <dgm:spPr/>
      <dgm:t xml:space="preserve">
        <a:bodyPr/>
        <a:lstStyle/>
        <a:p>
          <a:endParaRPr lang="en-IN"/>
        </a:p>
      </dgm:t>
    </dgm:pt>
    <dgm:pt modelId="{CD7A0DBF-3B48-4EEE-BBC3-F761519CD98C}" type="pres">
      <dgm:prSet presAssocID="{FABF2E6A-3A10-44E3-9343-D0405C4815D8}" presName="parentLin" presStyleCnt="0"/>
      <dgm:spPr/>
      <dgm:t xml:space="preserve">
        <a:bodyPr/>
        <a:lstStyle/>
        <a:p>
          <a:endParaRPr lang="en-IN"/>
        </a:p>
      </dgm:t>
    </dgm:pt>
    <dgm:pt modelId="{0445E75F-201C-4EC7-A34F-77F5D2D3EB33}" type="pres">
      <dgm:prSet presAssocID="{FABF2E6A-3A10-44E3-9343-D0405C4815D8}" presName="parentLeftMargin" presStyleLbl="node1" presStyleIdx="0" presStyleCnt="1"/>
      <dgm:spPr/>
      <dgm:t xml:space="preserve">
        <a:bodyPr/>
        <a:lstStyle/>
        <a:p>
          <a:endParaRPr lang="en-IN"/>
        </a:p>
      </dgm:t>
    </dgm:pt>
    <dgm:pt modelId="{E0EC07FF-F5E6-4FF8-A909-47BFA120E897}" type="pres">
      <dgm:prSet presAssocID="{FABF2E6A-3A10-44E3-9343-D0405C4815D8}" presName="parentText" presStyleLbl="node1" presStyleIdx="0" presStyleCnt="1">
        <dgm:presLayoutVars>
          <dgm:chMax val="0"/>
          <dgm:bulletEnabled val="1"/>
        </dgm:presLayoutVars>
      </dgm:prSet>
      <dgm:spPr/>
      <dgm:t xml:space="preserve">
        <a:bodyPr/>
        <a:lstStyle/>
        <a:p>
          <a:endParaRPr lang="en-IN"/>
        </a:p>
      </dgm:t>
    </dgm:pt>
    <dgm:pt modelId="{AE3003DB-C584-4D81-B8B6-85FC49D45F3B}" type="pres">
      <dgm:prSet presAssocID="{FABF2E6A-3A10-44E3-9343-D0405C4815D8}" presName="negativeSpace" presStyleCnt="0"/>
      <dgm:spPr/>
      <dgm:t xml:space="preserve">
        <a:bodyPr/>
        <a:lstStyle/>
        <a:p>
          <a:endParaRPr lang="en-IN"/>
        </a:p>
      </dgm:t>
    </dgm:pt>
    <dgm:pt modelId="{8A3C37DB-1A72-4314-A187-7EDB337A0314}" type="pres">
      <dgm:prSet presAssocID="{FABF2E6A-3A10-44E3-9343-D0405C4815D8}" presName="childText" presStyleLbl="conFgAcc1" presStyleIdx="0" presStyleCnt="1">
        <dgm:presLayoutVars>
          <dgm:bulletEnabled val="1"/>
        </dgm:presLayoutVars>
      </dgm:prSet>
      <dgm:spPr/>
      <dgm:t xml:space="preserve">
        <a:bodyPr/>
        <a:lstStyle/>
        <a:p>
          <a:endParaRPr lang="en-IN"/>
        </a:p>
      </dgm:t>
    </dgm:pt>
  </dgm:ptLst>
  <dgm:cxnLst>
    <dgm:cxn modelId="{203710F0-0A87-4C20-B8D0-84F26B2B18F8}" srcId="{FABF2E6A-3A10-44E3-9343-D0405C4815D8}" destId="{F4AF6C7E-E686-473D-9C02-C9F185FE6313}" srcOrd="2" destOrd="0" parTransId="{99E6491A-E3A7-4A1E-BE50-3DAB687A28D4}" sibTransId="{34806006-3523-464E-834B-336EC96386C4}"/>
    <dgm:cxn modelId="{7B48CEFB-12A6-418E-B5FA-EB542FBF6BFB}" srcId="{FABF2E6A-3A10-44E3-9343-D0405C4815D8}" destId="{F94C986E-ADBB-4113-9061-012C78253C8C}" srcOrd="4" destOrd="0" parTransId="{C3B4DBF6-5CC9-47BD-B03B-DA2A9073E979}" sibTransId="{F906F7FC-C7EA-4078-89D3-E754781155D5}"/>
    <dgm:cxn modelId="{C6768D40-A797-4552-9D05-E2EE9C19E321}" type="presOf" srcId="{F94C986E-ADBB-4113-9061-012C78253C8C}" destId="{8A3C37DB-1A72-4314-A187-7EDB337A0314}" srcOrd="0" destOrd="4" presId="urn:microsoft.com/office/officeart/2005/8/layout/list1"/>
    <dgm:cxn modelId="{2968F799-BDAF-4206-981B-3EC7E2EFEC51}" srcId="{FABF2E6A-3A10-44E3-9343-D0405C4815D8}" destId="{F6F749CD-4637-42A7-9176-2874EDE14D7C}" srcOrd="3" destOrd="0" parTransId="{9FFE31EA-2024-49D3-BC8A-C30469F5C8C7}" sibTransId="{DC087DC4-443C-4746-A97D-B638B66DC276}"/>
    <dgm:cxn modelId="{F040EE2A-E84A-4B7E-B21A-9FC815575944}" type="presOf" srcId="{174CAC9B-19D1-4BBB-B46E-377A36AEAEB6}" destId="{8A3C37DB-1A72-4314-A187-7EDB337A0314}" srcOrd="0" destOrd="6" presId="urn:microsoft.com/office/officeart/2005/8/layout/list1"/>
    <dgm:cxn modelId="{FB572395-6FAB-4605-967D-A3A2CEF02F4F}" srcId="{FABF2E6A-3A10-44E3-9343-D0405C4815D8}" destId="{6EC3AE20-48A8-426E-90C7-3DFBAE4985BA}" srcOrd="0" destOrd="0" parTransId="{80DC837C-B5AC-44F7-87CF-C33F6C6FE5AC}" sibTransId="{45F5DD11-39E5-4AA1-AA77-0EAC332F61D7}"/>
    <dgm:cxn modelId="{38F2F23D-EF00-471D-9F0A-CE72CB425BB5}" type="presOf" srcId="{490BD715-B541-43E4-80D3-D8CC4C4B1DD4}" destId="{8A3C37DB-1A72-4314-A187-7EDB337A0314}" srcOrd="0" destOrd="1" presId="urn:microsoft.com/office/officeart/2005/8/layout/list1"/>
    <dgm:cxn modelId="{CECD1E55-6EAA-45BD-B439-58A6FE5B88D9}" type="presOf" srcId="{F6F749CD-4637-42A7-9176-2874EDE14D7C}" destId="{8A3C37DB-1A72-4314-A187-7EDB337A0314}" srcOrd="0" destOrd="3" presId="urn:microsoft.com/office/officeart/2005/8/layout/list1"/>
    <dgm:cxn modelId="{222DB57E-16E0-46F0-8263-C22CE2A5761A}" srcId="{FABF2E6A-3A10-44E3-9343-D0405C4815D8}" destId="{490BD715-B541-43E4-80D3-D8CC4C4B1DD4}" srcOrd="1" destOrd="0" parTransId="{8A0FAE12-9A0A-40E3-90C1-997D92B0CF52}" sibTransId="{B417FEBE-E348-4842-AE90-85246B576250}"/>
    <dgm:cxn modelId="{ED9C87B8-4564-429B-BD71-23FA89669DF3}" type="presOf" srcId="{F4AF6C7E-E686-473D-9C02-C9F185FE6313}" destId="{8A3C37DB-1A72-4314-A187-7EDB337A0314}" srcOrd="0" destOrd="2" presId="urn:microsoft.com/office/officeart/2005/8/layout/list1"/>
    <dgm:cxn modelId="{F1497F3C-42DF-482B-A802-52FEF08536EE}" type="presOf" srcId="{6937373C-49D2-4AFF-B541-2EC6645EC954}" destId="{4718F140-14EA-47FE-A599-15D73640969E}" srcOrd="0" destOrd="0" presId="urn:microsoft.com/office/officeart/2005/8/layout/list1"/>
    <dgm:cxn modelId="{403C600A-764D-4AB7-981B-114D627B1297}" srcId="{FABF2E6A-3A10-44E3-9343-D0405C4815D8}" destId="{174CAC9B-19D1-4BBB-B46E-377A36AEAEB6}" srcOrd="6" destOrd="0" parTransId="{485CBE42-F1F8-4288-B278-C91D8E43663C}" sibTransId="{FCDDED12-0B99-4A21-8BD2-99D77EFA4CD5}"/>
    <dgm:cxn modelId="{48311B6F-D732-43A6-B6DD-6F2F44C28635}" srcId="{6937373C-49D2-4AFF-B541-2EC6645EC954}" destId="{FABF2E6A-3A10-44E3-9343-D0405C4815D8}" srcOrd="0" destOrd="0" parTransId="{A7E673FC-60D7-4D67-A7A8-927BDC3995DA}" sibTransId="{4DA0DAFB-FAF9-400E-B115-B1886746E216}"/>
    <dgm:cxn modelId="{FFE782ED-1464-4223-B577-FBAFCE9D12A8}" srcId="{FABF2E6A-3A10-44E3-9343-D0405C4815D8}" destId="{36B15EBA-CA2D-4B5D-BDE0-A0ADA00E7438}" srcOrd="5" destOrd="0" parTransId="{C3ECEF64-3B85-4A28-B745-FB0D44048286}" sibTransId="{567A0EB2-1D0C-439C-86D5-0FC002FCAA26}"/>
    <dgm:cxn modelId="{5929881C-90BD-4DEA-9B48-CFD530326AFA}" type="presOf" srcId="{FABF2E6A-3A10-44E3-9343-D0405C4815D8}" destId="{0445E75F-201C-4EC7-A34F-77F5D2D3EB33}" srcOrd="0" destOrd="0" presId="urn:microsoft.com/office/officeart/2005/8/layout/list1"/>
    <dgm:cxn modelId="{D3E7C9F5-147F-42F3-B502-A7BCDC558A8E}" type="presOf" srcId="{FABF2E6A-3A10-44E3-9343-D0405C4815D8}" destId="{E0EC07FF-F5E6-4FF8-A909-47BFA120E897}" srcOrd="1" destOrd="0" presId="urn:microsoft.com/office/officeart/2005/8/layout/list1"/>
    <dgm:cxn modelId="{0267B320-D942-4408-A898-A409A86EF657}" srcId="{FABF2E6A-3A10-44E3-9343-D0405C4815D8}" destId="{343572C3-15AF-430B-9CB8-F991FCEF57C7}" srcOrd="7" destOrd="0" parTransId="{F9E0AEDC-745B-4A0C-B046-6CB4CD6AA13C}" sibTransId="{054A014E-DF1D-45CC-B9A3-C76083C69B74}"/>
    <dgm:cxn modelId="{07D02945-AB5B-4BDC-8BDD-0203A087A2D0}" type="presOf" srcId="{36B15EBA-CA2D-4B5D-BDE0-A0ADA00E7438}" destId="{8A3C37DB-1A72-4314-A187-7EDB337A0314}" srcOrd="0" destOrd="5" presId="urn:microsoft.com/office/officeart/2005/8/layout/list1"/>
    <dgm:cxn modelId="{D766AB36-95E2-4EE6-9F83-811C007842F9}" type="presOf" srcId="{6EC3AE20-48A8-426E-90C7-3DFBAE4985BA}" destId="{8A3C37DB-1A72-4314-A187-7EDB337A0314}" srcOrd="0" destOrd="0" presId="urn:microsoft.com/office/officeart/2005/8/layout/list1"/>
    <dgm:cxn modelId="{A10701E1-E03B-442C-A57A-51935E8574CC}" type="presOf" srcId="{343572C3-15AF-430B-9CB8-F991FCEF57C7}" destId="{8A3C37DB-1A72-4314-A187-7EDB337A0314}" srcOrd="0" destOrd="7" presId="urn:microsoft.com/office/officeart/2005/8/layout/list1"/>
    <dgm:cxn modelId="{E2E15140-D439-4EF8-9B96-5C18EC0787B6}" type="presParOf" srcId="{4718F140-14EA-47FE-A599-15D73640969E}" destId="{CD7A0DBF-3B48-4EEE-BBC3-F761519CD98C}" srcOrd="0" destOrd="0" presId="urn:microsoft.com/office/officeart/2005/8/layout/list1"/>
    <dgm:cxn modelId="{247E84FF-3494-4D46-882E-F0438D15336D}" type="presParOf" srcId="{CD7A0DBF-3B48-4EEE-BBC3-F761519CD98C}" destId="{0445E75F-201C-4EC7-A34F-77F5D2D3EB33}" srcOrd="0" destOrd="0" presId="urn:microsoft.com/office/officeart/2005/8/layout/list1"/>
    <dgm:cxn modelId="{8B0401B3-3BC9-423D-A3CF-B463FE7BB993}" type="presParOf" srcId="{CD7A0DBF-3B48-4EEE-BBC3-F761519CD98C}" destId="{E0EC07FF-F5E6-4FF8-A909-47BFA120E897}" srcOrd="1" destOrd="0" presId="urn:microsoft.com/office/officeart/2005/8/layout/list1"/>
    <dgm:cxn modelId="{2BD51D4A-548A-4706-B1BF-A5B58F1942F5}" type="presParOf" srcId="{4718F140-14EA-47FE-A599-15D73640969E}" destId="{AE3003DB-C584-4D81-B8B6-85FC49D45F3B}" srcOrd="1" destOrd="0" presId="urn:microsoft.com/office/officeart/2005/8/layout/list1"/>
    <dgm:cxn modelId="{80CB8B50-E54D-473B-8CC5-BFD083DD765A}" type="presParOf" srcId="{4718F140-14EA-47FE-A599-15D73640969E}" destId="{8A3C37DB-1A72-4314-A187-7EDB337A0314}" srcOrd="2"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940770D-2775-4A6C-90C2-B2F6986E2F33}" type="doc">
      <dgm:prSet loTypeId="urn:microsoft.com/office/officeart/2005/8/layout/lProcess3" loCatId="process" qsTypeId="urn:microsoft.com/office/officeart/2005/8/quickstyle/simple1" qsCatId="simple" csTypeId="urn:microsoft.com/office/officeart/2005/8/colors/colorful4" csCatId="colorful"/>
      <dgm:spPr/>
      <dgm:t xml:space="preserve">
        <a:bodyPr/>
        <a:lstStyle/>
        <a:p>
          <a:endParaRPr lang="en-IN"/>
        </a:p>
      </dgm:t>
    </dgm:pt>
    <dgm:pt modelId="{209B700C-160B-4EBA-9253-A07A4394FA6E}">
      <dgm:prSet/>
      <dgm:spPr/>
      <dgm:t xml:space="preserve">
        <a:bodyPr/>
        <a:lstStyle/>
        <a:p>
          <a:pPr rtl="0"/>
          <a:r>
            <a:rPr lang="en-US" smtClean="0"/>
            <a:t>INSIGHTS:</a:t>
          </a:r>
          <a:endParaRPr lang="en-IN"/>
        </a:p>
      </dgm:t>
    </dgm:pt>
    <dgm:pt modelId="{F81F12F9-FBA9-426A-8913-28D983C61E73}" type="parTrans" cxnId="{4FEF07E0-194F-4F35-91F6-8622A59F6F0D}">
      <dgm:prSet/>
      <dgm:spPr/>
      <dgm:t xml:space="preserve">
        <a:bodyPr/>
        <a:lstStyle/>
        <a:p>
          <a:endParaRPr lang="en-IN"/>
        </a:p>
      </dgm:t>
    </dgm:pt>
    <dgm:pt modelId="{7355058D-8708-4FA2-B324-77AB621CE8C5}" type="sibTrans" cxnId="{4FEF07E0-194F-4F35-91F6-8622A59F6F0D}">
      <dgm:prSet/>
      <dgm:spPr/>
      <dgm:t xml:space="preserve">
        <a:bodyPr/>
        <a:lstStyle/>
        <a:p>
          <a:endParaRPr lang="en-IN"/>
        </a:p>
      </dgm:t>
    </dgm:pt>
    <dgm:pt modelId="{2DC3E374-9A29-4714-87AB-D6AC061581B9}">
      <dgm:prSet/>
      <dgm:spPr/>
      <dgm:t xml:space="preserve">
        <a:bodyPr/>
        <a:lstStyle/>
        <a:p>
          <a:pPr rtl="0"/>
          <a:r>
            <a:rPr lang="en-US" b="1" smtClean="0"/>
            <a:t>UNIBICS</a:t>
          </a:r>
          <a:r>
            <a:rPr lang="en-US" smtClean="0"/>
            <a:t xml:space="preserve"> tops the performance</a:t>
          </a:r>
          <a:endParaRPr lang="en-IN"/>
        </a:p>
      </dgm:t>
    </dgm:pt>
    <dgm:pt modelId="{11404A65-BE7F-4873-9347-89AA936D9180}" type="parTrans" cxnId="{64D0F838-DAA1-4E43-AD4A-138D9833504F}">
      <dgm:prSet/>
      <dgm:spPr/>
      <dgm:t xml:space="preserve">
        <a:bodyPr/>
        <a:lstStyle/>
        <a:p>
          <a:endParaRPr lang="en-IN"/>
        </a:p>
      </dgm:t>
    </dgm:pt>
    <dgm:pt modelId="{9AEAECD3-3A81-4410-AE65-855CE1357301}" type="sibTrans" cxnId="{64D0F838-DAA1-4E43-AD4A-138D9833504F}">
      <dgm:prSet/>
      <dgm:spPr/>
      <dgm:t xml:space="preserve">
        <a:bodyPr/>
        <a:lstStyle/>
        <a:p>
          <a:endParaRPr lang="en-IN"/>
        </a:p>
      </dgm:t>
    </dgm:pt>
    <dgm:pt modelId="{73B6763F-F0A1-4D2A-8119-FB9D5A73AA10}">
      <dgm:prSet/>
      <dgm:spPr/>
      <dgm:t xml:space="preserve">
        <a:bodyPr/>
        <a:lstStyle/>
        <a:p>
          <a:pPr rtl="0"/>
          <a:r>
            <a:rPr lang="en-US" smtClean="0"/>
            <a:t xml:space="preserve">Followed by </a:t>
          </a:r>
          <a:r>
            <a:rPr lang="en-US" b="1" smtClean="0"/>
            <a:t>LITTLE HEARTS</a:t>
          </a:r>
          <a:r>
            <a:rPr lang="en-US" smtClean="0"/>
            <a:t xml:space="preserve"> and </a:t>
          </a:r>
          <a:r>
            <a:rPr lang="en-US" b="1" smtClean="0"/>
            <a:t>OREO</a:t>
          </a:r>
          <a:endParaRPr lang="en-IN"/>
        </a:p>
      </dgm:t>
    </dgm:pt>
    <dgm:pt modelId="{1328B51E-17EA-41D9-9457-E18CDB4504FC}" type="parTrans" cxnId="{C555968D-3DA3-432D-B96C-E21C571E4107}">
      <dgm:prSet/>
      <dgm:spPr/>
      <dgm:t xml:space="preserve">
        <a:bodyPr/>
        <a:lstStyle/>
        <a:p>
          <a:endParaRPr lang="en-IN"/>
        </a:p>
      </dgm:t>
    </dgm:pt>
    <dgm:pt modelId="{F904579C-FDC0-4184-84ED-63807B41486D}" type="sibTrans" cxnId="{C555968D-3DA3-432D-B96C-E21C571E4107}">
      <dgm:prSet/>
      <dgm:spPr/>
      <dgm:t xml:space="preserve">
        <a:bodyPr/>
        <a:lstStyle/>
        <a:p>
          <a:endParaRPr lang="en-IN"/>
        </a:p>
      </dgm:t>
    </dgm:pt>
    <dgm:pt modelId="{9F10F231-F952-4D9B-91E6-EAF24306098F}">
      <dgm:prSet/>
      <dgm:spPr/>
      <dgm:t xml:space="preserve">
        <a:bodyPr/>
        <a:lstStyle/>
        <a:p>
          <a:pPr rtl="0"/>
          <a:r>
            <a:rPr lang="en-US" b="1" smtClean="0"/>
            <a:t>SUNFEAST</a:t>
          </a:r>
          <a:r>
            <a:rPr lang="en-US" smtClean="0"/>
            <a:t xml:space="preserve"> is the poor performer</a:t>
          </a:r>
          <a:endParaRPr lang="en-IN"/>
        </a:p>
      </dgm:t>
    </dgm:pt>
    <dgm:pt modelId="{A7A42CB2-3087-4970-853C-8D74D43CC9F9}" type="parTrans" cxnId="{87BA559B-6AEF-4867-89A0-4C0175B28EBC}">
      <dgm:prSet/>
      <dgm:spPr/>
      <dgm:t xml:space="preserve">
        <a:bodyPr/>
        <a:lstStyle/>
        <a:p>
          <a:endParaRPr lang="en-IN"/>
        </a:p>
      </dgm:t>
    </dgm:pt>
    <dgm:pt modelId="{B00AB803-7BFD-4F1D-B19B-FF3184C57CFE}" type="sibTrans" cxnId="{87BA559B-6AEF-4867-89A0-4C0175B28EBC}">
      <dgm:prSet/>
      <dgm:spPr/>
      <dgm:t xml:space="preserve">
        <a:bodyPr/>
        <a:lstStyle/>
        <a:p>
          <a:endParaRPr lang="en-IN"/>
        </a:p>
      </dgm:t>
    </dgm:pt>
    <dgm:pt modelId="{A58B70F6-C06F-4AF2-8604-1313C7F89900}" type="pres">
      <dgm:prSet presAssocID="{F940770D-2775-4A6C-90C2-B2F6986E2F33}" presName="Name0" presStyleCnt="0">
        <dgm:presLayoutVars>
          <dgm:chPref val="3"/>
          <dgm:dir/>
          <dgm:animLvl val="lvl"/>
          <dgm:resizeHandles/>
        </dgm:presLayoutVars>
      </dgm:prSet>
      <dgm:spPr/>
    </dgm:pt>
    <dgm:pt modelId="{A2368F15-2BCB-45E1-BE9E-B32F47E1BA4D}" type="pres">
      <dgm:prSet presAssocID="{209B700C-160B-4EBA-9253-A07A4394FA6E}" presName="horFlow" presStyleCnt="0"/>
      <dgm:spPr/>
    </dgm:pt>
    <dgm:pt modelId="{56B0A689-EA19-4CCE-9FB1-908A95BF2074}" type="pres">
      <dgm:prSet presAssocID="{209B700C-160B-4EBA-9253-A07A4394FA6E}" presName="bigChev" presStyleLbl="node1" presStyleIdx="0" presStyleCnt="1"/>
      <dgm:spPr/>
    </dgm:pt>
    <dgm:pt modelId="{38D4DB19-F1A1-4B74-87EB-A074778260CF}" type="pres">
      <dgm:prSet presAssocID="{11404A65-BE7F-4873-9347-89AA936D9180}" presName="parTrans" presStyleCnt="0"/>
      <dgm:spPr/>
    </dgm:pt>
    <dgm:pt modelId="{78BE7751-A7C0-4CA8-BD2E-39DF5993EB2F}" type="pres">
      <dgm:prSet presAssocID="{2DC3E374-9A29-4714-87AB-D6AC061581B9}" presName="node" presStyleLbl="alignAccFollowNode1" presStyleIdx="0" presStyleCnt="3">
        <dgm:presLayoutVars>
          <dgm:bulletEnabled val="1"/>
        </dgm:presLayoutVars>
      </dgm:prSet>
      <dgm:spPr/>
    </dgm:pt>
    <dgm:pt modelId="{789B48E1-2E41-4FD1-AF44-00B38F1EB043}" type="pres">
      <dgm:prSet presAssocID="{9AEAECD3-3A81-4410-AE65-855CE1357301}" presName="sibTrans" presStyleCnt="0"/>
      <dgm:spPr/>
    </dgm:pt>
    <dgm:pt modelId="{498A8113-99D6-4073-B96C-C424B0A419FA}" type="pres">
      <dgm:prSet presAssocID="{73B6763F-F0A1-4D2A-8119-FB9D5A73AA10}" presName="node" presStyleLbl="alignAccFollowNode1" presStyleIdx="1" presStyleCnt="3">
        <dgm:presLayoutVars>
          <dgm:bulletEnabled val="1"/>
        </dgm:presLayoutVars>
      </dgm:prSet>
      <dgm:spPr/>
    </dgm:pt>
    <dgm:pt modelId="{EBDE3923-4309-48A2-B54E-86A61076323F}" type="pres">
      <dgm:prSet presAssocID="{F904579C-FDC0-4184-84ED-63807B41486D}" presName="sibTrans" presStyleCnt="0"/>
      <dgm:spPr/>
    </dgm:pt>
    <dgm:pt modelId="{BAE2F638-DC9F-4F88-B00C-6EC6A55DE567}" type="pres">
      <dgm:prSet presAssocID="{9F10F231-F952-4D9B-91E6-EAF24306098F}" presName="node" presStyleLbl="alignAccFollowNode1" presStyleIdx="2" presStyleCnt="3">
        <dgm:presLayoutVars>
          <dgm:bulletEnabled val="1"/>
        </dgm:presLayoutVars>
      </dgm:prSet>
      <dgm:spPr/>
    </dgm:pt>
  </dgm:ptLst>
  <dgm:cxnLst>
    <dgm:cxn modelId="{4FEF07E0-194F-4F35-91F6-8622A59F6F0D}" srcId="{F940770D-2775-4A6C-90C2-B2F6986E2F33}" destId="{209B700C-160B-4EBA-9253-A07A4394FA6E}" srcOrd="0" destOrd="0" parTransId="{F81F12F9-FBA9-426A-8913-28D983C61E73}" sibTransId="{7355058D-8708-4FA2-B324-77AB621CE8C5}"/>
    <dgm:cxn modelId="{931A3B82-6EEE-47D0-9CF5-D295FBE6805D}" type="presOf" srcId="{2DC3E374-9A29-4714-87AB-D6AC061581B9}" destId="{78BE7751-A7C0-4CA8-BD2E-39DF5993EB2F}" srcOrd="0" destOrd="0" presId="urn:microsoft.com/office/officeart/2005/8/layout/lProcess3"/>
    <dgm:cxn modelId="{87BA559B-6AEF-4867-89A0-4C0175B28EBC}" srcId="{209B700C-160B-4EBA-9253-A07A4394FA6E}" destId="{9F10F231-F952-4D9B-91E6-EAF24306098F}" srcOrd="2" destOrd="0" parTransId="{A7A42CB2-3087-4970-853C-8D74D43CC9F9}" sibTransId="{B00AB803-7BFD-4F1D-B19B-FF3184C57CFE}"/>
    <dgm:cxn modelId="{C555968D-3DA3-432D-B96C-E21C571E4107}" srcId="{209B700C-160B-4EBA-9253-A07A4394FA6E}" destId="{73B6763F-F0A1-4D2A-8119-FB9D5A73AA10}" srcOrd="1" destOrd="0" parTransId="{1328B51E-17EA-41D9-9457-E18CDB4504FC}" sibTransId="{F904579C-FDC0-4184-84ED-63807B41486D}"/>
    <dgm:cxn modelId="{64D0F838-DAA1-4E43-AD4A-138D9833504F}" srcId="{209B700C-160B-4EBA-9253-A07A4394FA6E}" destId="{2DC3E374-9A29-4714-87AB-D6AC061581B9}" srcOrd="0" destOrd="0" parTransId="{11404A65-BE7F-4873-9347-89AA936D9180}" sibTransId="{9AEAECD3-3A81-4410-AE65-855CE1357301}"/>
    <dgm:cxn modelId="{FF71D6D3-B7B3-48A7-93F4-45ACAFEF3F86}" type="presOf" srcId="{9F10F231-F952-4D9B-91E6-EAF24306098F}" destId="{BAE2F638-DC9F-4F88-B00C-6EC6A55DE567}" srcOrd="0" destOrd="0" presId="urn:microsoft.com/office/officeart/2005/8/layout/lProcess3"/>
    <dgm:cxn modelId="{21E45D80-F006-4347-B963-41D867F80D8B}" type="presOf" srcId="{F940770D-2775-4A6C-90C2-B2F6986E2F33}" destId="{A58B70F6-C06F-4AF2-8604-1313C7F89900}" srcOrd="0" destOrd="0" presId="urn:microsoft.com/office/officeart/2005/8/layout/lProcess3"/>
    <dgm:cxn modelId="{DC4A18BC-95B9-4422-A51E-075487D8ADE6}" type="presOf" srcId="{209B700C-160B-4EBA-9253-A07A4394FA6E}" destId="{56B0A689-EA19-4CCE-9FB1-908A95BF2074}" srcOrd="0" destOrd="0" presId="urn:microsoft.com/office/officeart/2005/8/layout/lProcess3"/>
    <dgm:cxn modelId="{E565CEF4-7F4E-4BAB-A252-7D2E14C0DBED}" type="presOf" srcId="{73B6763F-F0A1-4D2A-8119-FB9D5A73AA10}" destId="{498A8113-99D6-4073-B96C-C424B0A419FA}" srcOrd="0" destOrd="0" presId="urn:microsoft.com/office/officeart/2005/8/layout/lProcess3"/>
    <dgm:cxn modelId="{B0C4051E-F410-45C4-9917-386EB62D9D08}" type="presParOf" srcId="{A58B70F6-C06F-4AF2-8604-1313C7F89900}" destId="{A2368F15-2BCB-45E1-BE9E-B32F47E1BA4D}" srcOrd="0" destOrd="0" presId="urn:microsoft.com/office/officeart/2005/8/layout/lProcess3"/>
    <dgm:cxn modelId="{D11B8D30-E88D-4376-82BF-6E16EB3950E8}" type="presParOf" srcId="{A2368F15-2BCB-45E1-BE9E-B32F47E1BA4D}" destId="{56B0A689-EA19-4CCE-9FB1-908A95BF2074}" srcOrd="0" destOrd="0" presId="urn:microsoft.com/office/officeart/2005/8/layout/lProcess3"/>
    <dgm:cxn modelId="{E11C5AF8-CC79-4F4E-9D1C-7809C20AB4A8}" type="presParOf" srcId="{A2368F15-2BCB-45E1-BE9E-B32F47E1BA4D}" destId="{38D4DB19-F1A1-4B74-87EB-A074778260CF}" srcOrd="1" destOrd="0" presId="urn:microsoft.com/office/officeart/2005/8/layout/lProcess3"/>
    <dgm:cxn modelId="{37365FAE-0080-4CAE-8364-A9E764B6DC38}" type="presParOf" srcId="{A2368F15-2BCB-45E1-BE9E-B32F47E1BA4D}" destId="{78BE7751-A7C0-4CA8-BD2E-39DF5993EB2F}" srcOrd="2" destOrd="0" presId="urn:microsoft.com/office/officeart/2005/8/layout/lProcess3"/>
    <dgm:cxn modelId="{256F8F02-AE70-462F-B5F6-69F1D6E5E923}" type="presParOf" srcId="{A2368F15-2BCB-45E1-BE9E-B32F47E1BA4D}" destId="{789B48E1-2E41-4FD1-AF44-00B38F1EB043}" srcOrd="3" destOrd="0" presId="urn:microsoft.com/office/officeart/2005/8/layout/lProcess3"/>
    <dgm:cxn modelId="{EC533D06-3C60-40C5-ABC0-AFC716C61EE0}" type="presParOf" srcId="{A2368F15-2BCB-45E1-BE9E-B32F47E1BA4D}" destId="{498A8113-99D6-4073-B96C-C424B0A419FA}" srcOrd="4" destOrd="0" presId="urn:microsoft.com/office/officeart/2005/8/layout/lProcess3"/>
    <dgm:cxn modelId="{17A7A44F-072E-487B-A490-185A6811373D}" type="presParOf" srcId="{A2368F15-2BCB-45E1-BE9E-B32F47E1BA4D}" destId="{EBDE3923-4309-48A2-B54E-86A61076323F}" srcOrd="5" destOrd="0" presId="urn:microsoft.com/office/officeart/2005/8/layout/lProcess3"/>
    <dgm:cxn modelId="{70D3F7A1-21F7-47C9-97D4-3F74044D5507}" type="presParOf" srcId="{A2368F15-2BCB-45E1-BE9E-B32F47E1BA4D}" destId="{BAE2F638-DC9F-4F88-B00C-6EC6A55DE567}" srcOrd="6"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E085FC7-8F13-4BC4-B7A3-A6E97E2DF537}" type="doc">
      <dgm:prSet loTypeId="urn:microsoft.com/office/officeart/2005/8/layout/arrow4" loCatId="process" qsTypeId="urn:microsoft.com/office/officeart/2005/8/quickstyle/simple1" qsCatId="simple" csTypeId="urn:microsoft.com/office/officeart/2005/8/colors/accent4_2" csCatId="accent4"/>
      <dgm:spPr/>
      <dgm:t xml:space="preserve">
        <a:bodyPr/>
        <a:lstStyle/>
        <a:p>
          <a:endParaRPr lang="en-IN"/>
        </a:p>
      </dgm:t>
    </dgm:pt>
    <dgm:pt modelId="{265A7DDB-2D43-4F40-832A-AD65C9CD8197}">
      <dgm:prSet/>
      <dgm:spPr/>
      <dgm:t xml:space="preserve">
        <a:bodyPr/>
        <a:lstStyle/>
        <a:p>
          <a:pPr rtl="0"/>
          <a:r>
            <a:rPr lang="en-US" b="1" dirty="0" smtClean="0"/>
            <a:t>MALE</a:t>
          </a:r>
          <a:r>
            <a:rPr lang="en-US" dirty="0" smtClean="0"/>
            <a:t xml:space="preserve"> alone contributes about </a:t>
          </a:r>
          <a:r>
            <a:rPr lang="en-US" b="1" dirty="0" smtClean="0"/>
            <a:t xml:space="preserve">84.44% </a:t>
          </a:r>
          <a:r>
            <a:rPr lang="en-US" dirty="0" smtClean="0"/>
            <a:t xml:space="preserve">in total profits </a:t>
          </a:r>
          <a:endParaRPr lang="en-IN" dirty="0"/>
        </a:p>
      </dgm:t>
    </dgm:pt>
    <dgm:pt modelId="{0DCE15E7-16BD-4A02-BE82-BA0FC33F2E7E}" type="parTrans" cxnId="{EA648C7C-3349-4910-9A4F-39CBB14D245A}">
      <dgm:prSet/>
      <dgm:spPr/>
      <dgm:t xml:space="preserve">
        <a:bodyPr/>
        <a:lstStyle/>
        <a:p>
          <a:endParaRPr lang="en-IN"/>
        </a:p>
      </dgm:t>
    </dgm:pt>
    <dgm:pt modelId="{4A7C8E25-BFC0-49C8-A18B-015D8A28D3D3}" type="sibTrans" cxnId="{EA648C7C-3349-4910-9A4F-39CBB14D245A}">
      <dgm:prSet/>
      <dgm:spPr/>
      <dgm:t xml:space="preserve">
        <a:bodyPr/>
        <a:lstStyle/>
        <a:p>
          <a:endParaRPr lang="en-IN"/>
        </a:p>
      </dgm:t>
    </dgm:pt>
    <dgm:pt modelId="{C0044A69-B619-4584-A9F3-7D191AD5C50E}" type="pres">
      <dgm:prSet presAssocID="{0E085FC7-8F13-4BC4-B7A3-A6E97E2DF537}" presName="compositeShape" presStyleCnt="0">
        <dgm:presLayoutVars>
          <dgm:chMax val="2"/>
          <dgm:dir/>
          <dgm:resizeHandles val="exact"/>
        </dgm:presLayoutVars>
      </dgm:prSet>
      <dgm:spPr/>
    </dgm:pt>
    <dgm:pt modelId="{D39FE82B-D10A-4E1D-B50A-9AEC63998DB4}" type="pres">
      <dgm:prSet presAssocID="{265A7DDB-2D43-4F40-832A-AD65C9CD8197}" presName="upArrow" presStyleLbl="node1" presStyleIdx="0" presStyleCnt="1"/>
      <dgm:spPr/>
    </dgm:pt>
    <dgm:pt modelId="{23E850C7-053B-425A-A7E6-739C5E3B69CD}" type="pres">
      <dgm:prSet presAssocID="{265A7DDB-2D43-4F40-832A-AD65C9CD8197}" presName="upArrowText" presStyleLbl="revTx" presStyleIdx="0" presStyleCnt="1">
        <dgm:presLayoutVars>
          <dgm:chMax val="0"/>
          <dgm:bulletEnabled val="1"/>
        </dgm:presLayoutVars>
      </dgm:prSet>
      <dgm:spPr/>
    </dgm:pt>
  </dgm:ptLst>
  <dgm:cxnLst>
    <dgm:cxn modelId="{DE81A59F-04B1-4E1C-BF4C-1B9E32F0A68D}" type="presOf" srcId="{0E085FC7-8F13-4BC4-B7A3-A6E97E2DF537}" destId="{C0044A69-B619-4584-A9F3-7D191AD5C50E}" srcOrd="0" destOrd="0" presId="urn:microsoft.com/office/officeart/2005/8/layout/arrow4"/>
    <dgm:cxn modelId="{EA648C7C-3349-4910-9A4F-39CBB14D245A}" srcId="{0E085FC7-8F13-4BC4-B7A3-A6E97E2DF537}" destId="{265A7DDB-2D43-4F40-832A-AD65C9CD8197}" srcOrd="0" destOrd="0" parTransId="{0DCE15E7-16BD-4A02-BE82-BA0FC33F2E7E}" sibTransId="{4A7C8E25-BFC0-49C8-A18B-015D8A28D3D3}"/>
    <dgm:cxn modelId="{379EC882-D219-4F18-9B5F-DFCC351A0344}" type="presOf" srcId="{265A7DDB-2D43-4F40-832A-AD65C9CD8197}" destId="{23E850C7-053B-425A-A7E6-739C5E3B69CD}" srcOrd="0" destOrd="0" presId="urn:microsoft.com/office/officeart/2005/8/layout/arrow4"/>
    <dgm:cxn modelId="{486725F5-D371-4685-AF04-834186ABFE75}" type="presParOf" srcId="{C0044A69-B619-4584-A9F3-7D191AD5C50E}" destId="{D39FE82B-D10A-4E1D-B50A-9AEC63998DB4}" srcOrd="0" destOrd="0" presId="urn:microsoft.com/office/officeart/2005/8/layout/arrow4"/>
    <dgm:cxn modelId="{F60CC2E6-B941-4D62-83A8-D0B64F98912C}" type="presParOf" srcId="{C0044A69-B619-4584-A9F3-7D191AD5C50E}" destId="{23E850C7-053B-425A-A7E6-739C5E3B69CD}" srcOrd="1"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F0D921B-F86C-4F05-ABBD-92AFF7277D71}" type="doc">
      <dgm:prSet loTypeId="urn:microsoft.com/office/officeart/2005/8/layout/vList2" loCatId="list" qsTypeId="urn:microsoft.com/office/officeart/2005/8/quickstyle/simple1" qsCatId="simple" csTypeId="urn:microsoft.com/office/officeart/2005/8/colors/accent1_2" csCatId="accent1" phldr="1"/>
      <dgm:spPr/>
      <dgm:t xml:space="preserve">
        <a:bodyPr/>
        <a:lstStyle/>
        <a:p>
          <a:endParaRPr lang="en-IN"/>
        </a:p>
      </dgm:t>
    </dgm:pt>
    <dgm:pt modelId="{05048FE9-3604-4234-9B08-E18DEA77CD78}">
      <dgm:prSet phldrT="[Text]"/>
      <dgm:spPr>
        <a:solidFill>
          <a:schemeClr val="accent4"/>
        </a:solidFill>
      </dgm:spPr>
      <dgm:t xml:space="preserve">
        <a:bodyPr/>
        <a:lstStyle/>
        <a:p>
          <a:r>
            <a:rPr lang="en-US" dirty="0" smtClean="0"/>
            <a:t>69+ age group people bus biscuits often</a:t>
          </a:r>
        </a:p>
      </dgm:t>
    </dgm:pt>
    <dgm:pt modelId="{DC62499F-FFA1-481B-B2FD-36856A8D0E7B}" type="parTrans" cxnId="{7D4F6B42-5653-45D0-A634-74C7AA5C0041}">
      <dgm:prSet/>
      <dgm:spPr/>
      <dgm:t xml:space="preserve">
        <a:bodyPr/>
        <a:lstStyle/>
        <a:p>
          <a:endParaRPr lang="en-IN"/>
        </a:p>
      </dgm:t>
    </dgm:pt>
    <dgm:pt modelId="{A4370D47-31D6-43A1-A07B-256352072985}" type="sibTrans" cxnId="{7D4F6B42-5653-45D0-A634-74C7AA5C0041}">
      <dgm:prSet/>
      <dgm:spPr/>
      <dgm:t xml:space="preserve">
        <a:bodyPr/>
        <a:lstStyle/>
        <a:p>
          <a:endParaRPr lang="en-IN"/>
        </a:p>
      </dgm:t>
    </dgm:pt>
    <dgm:pt modelId="{36C5A34D-2738-434F-BF29-6082B4DB7B24}">
      <dgm:prSet phldrT="[Text]"/>
      <dgm:spPr/>
      <dgm:t xml:space="preserve">
        <a:bodyPr/>
        <a:lstStyle/>
        <a:p>
          <a:r>
            <a:rPr lang="en-US" dirty="0" smtClean="0"/>
            <a:t>Biscuits are rarely purchased by 18-28 age category</a:t>
          </a:r>
          <a:endParaRPr lang="en-IN" dirty="0"/>
        </a:p>
      </dgm:t>
    </dgm:pt>
    <dgm:pt modelId="{712C92F4-3452-43A8-9299-07F7DB5F8F12}" type="parTrans" cxnId="{03C2E863-4856-49BC-822F-FDBB6F4E3847}">
      <dgm:prSet/>
      <dgm:spPr/>
      <dgm:t xml:space="preserve">
        <a:bodyPr/>
        <a:lstStyle/>
        <a:p>
          <a:endParaRPr lang="en-IN"/>
        </a:p>
      </dgm:t>
    </dgm:pt>
    <dgm:pt modelId="{005137E9-16A5-4AE8-84B6-DA8A537D499F}" type="sibTrans" cxnId="{03C2E863-4856-49BC-822F-FDBB6F4E3847}">
      <dgm:prSet/>
      <dgm:spPr/>
      <dgm:t xml:space="preserve">
        <a:bodyPr/>
        <a:lstStyle/>
        <a:p>
          <a:endParaRPr lang="en-IN"/>
        </a:p>
      </dgm:t>
    </dgm:pt>
    <dgm:pt modelId="{81AF66DE-D3F7-433C-86CF-B4BD3C9A9929}" type="pres">
      <dgm:prSet presAssocID="{EF0D921B-F86C-4F05-ABBD-92AFF7277D71}" presName="linear" presStyleCnt="0">
        <dgm:presLayoutVars>
          <dgm:animLvl val="lvl"/>
          <dgm:resizeHandles val="exact"/>
        </dgm:presLayoutVars>
      </dgm:prSet>
      <dgm:spPr/>
    </dgm:pt>
    <dgm:pt modelId="{28741899-76FD-48A5-AE7B-05C64BAC4DAF}" type="pres">
      <dgm:prSet presAssocID="{05048FE9-3604-4234-9B08-E18DEA77CD78}" presName="parentText" presStyleLbl="node1" presStyleIdx="0" presStyleCnt="1">
        <dgm:presLayoutVars>
          <dgm:chMax val="0"/>
          <dgm:bulletEnabled val="1"/>
        </dgm:presLayoutVars>
      </dgm:prSet>
      <dgm:spPr>
        <a:prstGeom prst="roundRect">
          <a:avLst/>
        </a:prstGeom>
      </dgm:spPr>
      <dgm:t xml:space="preserve">
        <a:bodyPr/>
        <a:lstStyle/>
        <a:p>
          <a:endParaRPr lang="en-IN"/>
        </a:p>
      </dgm:t>
    </dgm:pt>
    <dgm:pt modelId="{660BA06B-E6DD-4490-A823-DFD5A3F896CC}" type="pres">
      <dgm:prSet presAssocID="{05048FE9-3604-4234-9B08-E18DEA77CD78}" presName="childText" presStyleLbl="revTx" presStyleIdx="0" presStyleCnt="1">
        <dgm:presLayoutVars>
          <dgm:bulletEnabled val="1"/>
        </dgm:presLayoutVars>
      </dgm:prSet>
      <dgm:spPr/>
      <dgm:t xml:space="preserve">
        <a:bodyPr/>
        <a:lstStyle/>
        <a:p>
          <a:endParaRPr lang="en-IN"/>
        </a:p>
      </dgm:t>
    </dgm:pt>
  </dgm:ptLst>
  <dgm:cxnLst>
    <dgm:cxn modelId="{15986482-DAD3-48AB-90FA-514D42989518}" type="presOf" srcId="{05048FE9-3604-4234-9B08-E18DEA77CD78}" destId="{28741899-76FD-48A5-AE7B-05C64BAC4DAF}" srcOrd="0" destOrd="0" presId="urn:microsoft.com/office/officeart/2005/8/layout/vList2"/>
    <dgm:cxn modelId="{03C2E863-4856-49BC-822F-FDBB6F4E3847}" srcId="{05048FE9-3604-4234-9B08-E18DEA77CD78}" destId="{36C5A34D-2738-434F-BF29-6082B4DB7B24}" srcOrd="0" destOrd="0" parTransId="{712C92F4-3452-43A8-9299-07F7DB5F8F12}" sibTransId="{005137E9-16A5-4AE8-84B6-DA8A537D499F}"/>
    <dgm:cxn modelId="{7D4F6B42-5653-45D0-A634-74C7AA5C0041}" srcId="{EF0D921B-F86C-4F05-ABBD-92AFF7277D71}" destId="{05048FE9-3604-4234-9B08-E18DEA77CD78}" srcOrd="0" destOrd="0" parTransId="{DC62499F-FFA1-481B-B2FD-36856A8D0E7B}" sibTransId="{A4370D47-31D6-43A1-A07B-256352072985}"/>
    <dgm:cxn modelId="{1DB7051A-9531-465F-A9B0-4369AF14A028}" type="presOf" srcId="{36C5A34D-2738-434F-BF29-6082B4DB7B24}" destId="{660BA06B-E6DD-4490-A823-DFD5A3F896CC}" srcOrd="0" destOrd="0" presId="urn:microsoft.com/office/officeart/2005/8/layout/vList2"/>
    <dgm:cxn modelId="{0D932CA0-BB0A-4872-A15E-AACA175945CA}" type="presOf" srcId="{EF0D921B-F86C-4F05-ABBD-92AFF7277D71}" destId="{81AF66DE-D3F7-433C-86CF-B4BD3C9A9929}" srcOrd="0" destOrd="0" presId="urn:microsoft.com/office/officeart/2005/8/layout/vList2"/>
    <dgm:cxn modelId="{D5AB4881-7C2C-4408-844A-96FD9D63EFAA}" type="presParOf" srcId="{81AF66DE-D3F7-433C-86CF-B4BD3C9A9929}" destId="{28741899-76FD-48A5-AE7B-05C64BAC4DAF}" srcOrd="0" destOrd="0" presId="urn:microsoft.com/office/officeart/2005/8/layout/vList2"/>
    <dgm:cxn modelId="{B72CE47E-7BC5-4F27-BEBD-BC24F9EA4147}" type="presParOf" srcId="{81AF66DE-D3F7-433C-86CF-B4BD3C9A9929}" destId="{660BA06B-E6DD-4490-A823-DFD5A3F896CC}"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D981572-5706-43A8-AAA9-FFC642A4F8A0}" type="doc">
      <dgm:prSet loTypeId="urn:microsoft.com/office/officeart/2005/8/layout/target3" loCatId="relationship" qsTypeId="urn:microsoft.com/office/officeart/2005/8/quickstyle/simple1" qsCatId="simple" csTypeId="urn:microsoft.com/office/officeart/2005/8/colors/colorful4" csCatId="colorful" phldr="1"/>
      <dgm:spPr/>
      <dgm:t xml:space="preserve">
        <a:bodyPr/>
        <a:lstStyle/>
        <a:p>
          <a:endParaRPr lang="en-IN"/>
        </a:p>
      </dgm:t>
    </dgm:pt>
    <dgm:pt modelId="{358863DC-CFF1-445C-AF4B-E260A67583C7}">
      <dgm:prSet/>
      <dgm:spPr/>
      <dgm:t xml:space="preserve">
        <a:bodyPr/>
        <a:lstStyle/>
        <a:p>
          <a:pPr rtl="0"/>
          <a:r>
            <a:rPr lang="en-US" dirty="0" smtClean="0"/>
            <a:t>An Antonio tops the sales by location</a:t>
          </a:r>
          <a:endParaRPr lang="en-IN" dirty="0"/>
        </a:p>
      </dgm:t>
    </dgm:pt>
    <dgm:pt modelId="{27B73491-B090-49BC-B9D7-13DC80EC56E0}" type="parTrans" cxnId="{04ADFD52-DEDF-439E-8305-E20230CD7224}">
      <dgm:prSet/>
      <dgm:spPr/>
      <dgm:t xml:space="preserve">
        <a:bodyPr/>
        <a:lstStyle/>
        <a:p>
          <a:endParaRPr lang="en-IN"/>
        </a:p>
      </dgm:t>
    </dgm:pt>
    <dgm:pt modelId="{7F0B2A8E-0D38-4139-8095-1A26A1FCD55B}" type="sibTrans" cxnId="{04ADFD52-DEDF-439E-8305-E20230CD7224}">
      <dgm:prSet/>
      <dgm:spPr/>
      <dgm:t xml:space="preserve">
        <a:bodyPr/>
        <a:lstStyle/>
        <a:p>
          <a:endParaRPr lang="en-IN"/>
        </a:p>
      </dgm:t>
    </dgm:pt>
    <dgm:pt modelId="{51017842-BDE7-48B9-8A12-443D4029E137}" type="pres">
      <dgm:prSet presAssocID="{7D981572-5706-43A8-AAA9-FFC642A4F8A0}" presName="Name0" presStyleCnt="0">
        <dgm:presLayoutVars>
          <dgm:chMax val="7"/>
          <dgm:dir/>
          <dgm:animLvl val="lvl"/>
          <dgm:resizeHandles val="exact"/>
        </dgm:presLayoutVars>
      </dgm:prSet>
      <dgm:spPr/>
      <dgm:t xml:space="preserve">
        <a:bodyPr/>
        <a:lstStyle/>
        <a:p>
          <a:endParaRPr lang="en-IN"/>
        </a:p>
      </dgm:t>
    </dgm:pt>
    <dgm:pt modelId="{F1E2A21F-BBEB-49CE-AC39-56B1FFD4F2BE}" type="pres">
      <dgm:prSet presAssocID="{358863DC-CFF1-445C-AF4B-E260A67583C7}" presName="circle1" presStyleLbl="node1" presStyleIdx="0" presStyleCnt="1"/>
      <dgm:spPr/>
    </dgm:pt>
    <dgm:pt modelId="{EEC0C41F-2C61-47F7-8D5F-0D7D89FDE3B0}" type="pres">
      <dgm:prSet presAssocID="{358863DC-CFF1-445C-AF4B-E260A67583C7}" presName="space" presStyleCnt="0"/>
      <dgm:spPr/>
    </dgm:pt>
    <dgm:pt modelId="{0BE30ECC-09E4-4223-946B-028F65BA1828}" type="pres">
      <dgm:prSet presAssocID="{358863DC-CFF1-445C-AF4B-E260A67583C7}" presName="rect1" presStyleLbl="alignAcc1" presStyleIdx="0" presStyleCnt="1" custLinFactNeighborX="1862" custLinFactNeighborY="23579"/>
      <dgm:spPr/>
      <dgm:t xml:space="preserve">
        <a:bodyPr/>
        <a:lstStyle/>
        <a:p>
          <a:endParaRPr lang="en-IN"/>
        </a:p>
      </dgm:t>
    </dgm:pt>
    <dgm:pt modelId="{AB599C7F-CF9A-4B07-AF14-FBC0973CA33C}" type="pres">
      <dgm:prSet presAssocID="{358863DC-CFF1-445C-AF4B-E260A67583C7}" presName="rect1ParTxNoCh" presStyleLbl="alignAcc1" presStyleIdx="0" presStyleCnt="1">
        <dgm:presLayoutVars>
          <dgm:chMax val="1"/>
          <dgm:bulletEnabled val="1"/>
        </dgm:presLayoutVars>
      </dgm:prSet>
      <dgm:spPr/>
      <dgm:t xml:space="preserve">
        <a:bodyPr/>
        <a:lstStyle/>
        <a:p>
          <a:endParaRPr lang="en-IN"/>
        </a:p>
      </dgm:t>
    </dgm:pt>
  </dgm:ptLst>
  <dgm:cxnLst>
    <dgm:cxn modelId="{04ADFD52-DEDF-439E-8305-E20230CD7224}" srcId="{7D981572-5706-43A8-AAA9-FFC642A4F8A0}" destId="{358863DC-CFF1-445C-AF4B-E260A67583C7}" srcOrd="0" destOrd="0" parTransId="{27B73491-B090-49BC-B9D7-13DC80EC56E0}" sibTransId="{7F0B2A8E-0D38-4139-8095-1A26A1FCD55B}"/>
    <dgm:cxn modelId="{D2DD91CD-45F3-4278-8BCC-A2C1A06FEEA1}" type="presOf" srcId="{358863DC-CFF1-445C-AF4B-E260A67583C7}" destId="{0BE30ECC-09E4-4223-946B-028F65BA1828}" srcOrd="0" destOrd="0" presId="urn:microsoft.com/office/officeart/2005/8/layout/target3"/>
    <dgm:cxn modelId="{BA533045-E044-48BF-9852-9A8266588C1E}" type="presOf" srcId="{7D981572-5706-43A8-AAA9-FFC642A4F8A0}" destId="{51017842-BDE7-48B9-8A12-443D4029E137}" srcOrd="0" destOrd="0" presId="urn:microsoft.com/office/officeart/2005/8/layout/target3"/>
    <dgm:cxn modelId="{F4A21718-D769-439C-B868-0760BCBA0CAB}" type="presOf" srcId="{358863DC-CFF1-445C-AF4B-E260A67583C7}" destId="{AB599C7F-CF9A-4B07-AF14-FBC0973CA33C}" srcOrd="1" destOrd="0" presId="urn:microsoft.com/office/officeart/2005/8/layout/target3"/>
    <dgm:cxn modelId="{1C1D93A4-B07B-4AF3-86A4-ACA705256139}" type="presParOf" srcId="{51017842-BDE7-48B9-8A12-443D4029E137}" destId="{F1E2A21F-BBEB-49CE-AC39-56B1FFD4F2BE}" srcOrd="0" destOrd="0" presId="urn:microsoft.com/office/officeart/2005/8/layout/target3"/>
    <dgm:cxn modelId="{56B8BE00-901C-4513-8138-4AB48B01872D}" type="presParOf" srcId="{51017842-BDE7-48B9-8A12-443D4029E137}" destId="{EEC0C41F-2C61-47F7-8D5F-0D7D89FDE3B0}" srcOrd="1" destOrd="0" presId="urn:microsoft.com/office/officeart/2005/8/layout/target3"/>
    <dgm:cxn modelId="{D2D44127-94EE-4C02-B1DE-FED702E25B48}" type="presParOf" srcId="{51017842-BDE7-48B9-8A12-443D4029E137}" destId="{0BE30ECC-09E4-4223-946B-028F65BA1828}" srcOrd="2" destOrd="0" presId="urn:microsoft.com/office/officeart/2005/8/layout/target3"/>
    <dgm:cxn modelId="{16573A31-5422-46E7-B8C2-A2C871C9D6E1}" type="presParOf" srcId="{51017842-BDE7-48B9-8A12-443D4029E137}" destId="{AB599C7F-CF9A-4B07-AF14-FBC0973CA33C}"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821E8D-FF68-4224-9A53-A596AD5FAC60}">
      <dsp:nvSpPr>
        <dsp:cNvPr id="0" name=""/>
        <dsp:cNvSpPr/>
      </dsp:nvSpPr>
      <dsp:spPr>
        <a:xfrm>
          <a:off x="0" y="28169"/>
          <a:ext cx="4800600" cy="360126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rtl="0">
            <a:lnSpc>
              <a:spcPct val="90000"/>
            </a:lnSpc>
            <a:spcBef>
              <a:spcPct val="0"/>
            </a:spcBef>
            <a:spcAft>
              <a:spcPct val="35000"/>
            </a:spcAft>
          </a:pPr>
          <a:r>
            <a:rPr lang="en-US" sz="2700" kern="1200" smtClean="0"/>
            <a:t>Excel formulas such as SUM, AVERAGE, FILTER, VLOOKUP, TEXT FUNCTIONS, TRIM were used to clean data, calculated key metrics and also used pivot tables to organize and analyze the sales data with visualization</a:t>
          </a:r>
          <a:endParaRPr lang="en-IN" sz="2700" kern="1200"/>
        </a:p>
      </dsp:txBody>
      <dsp:txXfrm>
        <a:off x="175799" y="203968"/>
        <a:ext cx="4449002" cy="32496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3C37DB-1A72-4314-A187-7EDB337A0314}">
      <dsp:nvSpPr>
        <dsp:cNvPr id="0" name=""/>
        <dsp:cNvSpPr/>
      </dsp:nvSpPr>
      <dsp:spPr>
        <a:xfrm>
          <a:off x="0" y="222111"/>
          <a:ext cx="2819400" cy="2362500"/>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8817" tIns="312420" rIns="218817" bIns="106680" numCol="1" spcCol="1270" anchor="t" anchorCtr="0">
          <a:noAutofit/>
        </a:bodyPr>
        <a:lstStyle/>
        <a:p>
          <a:pPr marL="114300" lvl="1" indent="-114300" algn="l" defTabSz="666750" rtl="0">
            <a:lnSpc>
              <a:spcPct val="90000"/>
            </a:lnSpc>
            <a:spcBef>
              <a:spcPct val="0"/>
            </a:spcBef>
            <a:spcAft>
              <a:spcPct val="15000"/>
            </a:spcAft>
            <a:buChar char="••"/>
          </a:pPr>
          <a:r>
            <a:rPr lang="en-US" sz="1500" kern="1200" smtClean="0"/>
            <a:t>Transaction date</a:t>
          </a:r>
          <a:endParaRPr lang="en-IN" sz="1500" kern="1200"/>
        </a:p>
        <a:p>
          <a:pPr marL="114300" lvl="1" indent="-114300" algn="l" defTabSz="666750" rtl="0">
            <a:lnSpc>
              <a:spcPct val="90000"/>
            </a:lnSpc>
            <a:spcBef>
              <a:spcPct val="0"/>
            </a:spcBef>
            <a:spcAft>
              <a:spcPct val="15000"/>
            </a:spcAft>
            <a:buChar char="••"/>
          </a:pPr>
          <a:r>
            <a:rPr lang="en-US" sz="1500" kern="1200" smtClean="0"/>
            <a:t>Buyer name and location</a:t>
          </a:r>
          <a:endParaRPr lang="en-IN" sz="1500" kern="1200"/>
        </a:p>
        <a:p>
          <a:pPr marL="114300" lvl="1" indent="-114300" algn="l" defTabSz="666750" rtl="0">
            <a:lnSpc>
              <a:spcPct val="90000"/>
            </a:lnSpc>
            <a:spcBef>
              <a:spcPct val="0"/>
            </a:spcBef>
            <a:spcAft>
              <a:spcPct val="15000"/>
            </a:spcAft>
            <a:buChar char="••"/>
          </a:pPr>
          <a:r>
            <a:rPr lang="en-US" sz="1500" kern="1200" smtClean="0"/>
            <a:t>Buyer date of birth</a:t>
          </a:r>
          <a:endParaRPr lang="en-IN" sz="1500" kern="1200"/>
        </a:p>
        <a:p>
          <a:pPr marL="114300" lvl="1" indent="-114300" algn="l" defTabSz="666750" rtl="0">
            <a:lnSpc>
              <a:spcPct val="90000"/>
            </a:lnSpc>
            <a:spcBef>
              <a:spcPct val="0"/>
            </a:spcBef>
            <a:spcAft>
              <a:spcPct val="15000"/>
            </a:spcAft>
            <a:buChar char="••"/>
          </a:pPr>
          <a:r>
            <a:rPr lang="en-US" sz="1500" kern="1200" smtClean="0"/>
            <a:t>Payment method</a:t>
          </a:r>
          <a:endParaRPr lang="en-IN" sz="1500" kern="1200"/>
        </a:p>
        <a:p>
          <a:pPr marL="114300" lvl="1" indent="-114300" algn="l" defTabSz="666750" rtl="0">
            <a:lnSpc>
              <a:spcPct val="90000"/>
            </a:lnSpc>
            <a:spcBef>
              <a:spcPct val="0"/>
            </a:spcBef>
            <a:spcAft>
              <a:spcPct val="15000"/>
            </a:spcAft>
            <a:buChar char="••"/>
          </a:pPr>
          <a:r>
            <a:rPr lang="en-US" sz="1500" kern="1200" smtClean="0"/>
            <a:t>Quantity purchased</a:t>
          </a:r>
          <a:endParaRPr lang="en-IN" sz="1500" kern="1200"/>
        </a:p>
        <a:p>
          <a:pPr marL="114300" lvl="1" indent="-114300" algn="l" defTabSz="666750" rtl="0">
            <a:lnSpc>
              <a:spcPct val="90000"/>
            </a:lnSpc>
            <a:spcBef>
              <a:spcPct val="0"/>
            </a:spcBef>
            <a:spcAft>
              <a:spcPct val="15000"/>
            </a:spcAft>
            <a:buChar char="••"/>
          </a:pPr>
          <a:r>
            <a:rPr lang="en-US" sz="1500" kern="1200" smtClean="0"/>
            <a:t>Product code</a:t>
          </a:r>
          <a:endParaRPr lang="en-IN" sz="1500" kern="1200"/>
        </a:p>
        <a:p>
          <a:pPr marL="114300" lvl="1" indent="-114300" algn="l" defTabSz="666750" rtl="0">
            <a:lnSpc>
              <a:spcPct val="90000"/>
            </a:lnSpc>
            <a:spcBef>
              <a:spcPct val="0"/>
            </a:spcBef>
            <a:spcAft>
              <a:spcPct val="15000"/>
            </a:spcAft>
            <a:buChar char="••"/>
          </a:pPr>
          <a:r>
            <a:rPr lang="en-US" sz="1500" kern="1200" smtClean="0"/>
            <a:t>Sales representative</a:t>
          </a:r>
          <a:endParaRPr lang="en-IN" sz="1500" kern="1200"/>
        </a:p>
        <a:p>
          <a:pPr marL="114300" lvl="1" indent="-114300" algn="l" defTabSz="666750" rtl="0">
            <a:lnSpc>
              <a:spcPct val="90000"/>
            </a:lnSpc>
            <a:spcBef>
              <a:spcPct val="0"/>
            </a:spcBef>
            <a:spcAft>
              <a:spcPct val="15000"/>
            </a:spcAft>
            <a:buChar char="••"/>
          </a:pPr>
          <a:r>
            <a:rPr lang="en-US" sz="1500" kern="1200" smtClean="0"/>
            <a:t>gender</a:t>
          </a:r>
          <a:endParaRPr lang="en-IN" sz="1500" kern="1200"/>
        </a:p>
      </dsp:txBody>
      <dsp:txXfrm>
        <a:off x="0" y="222111"/>
        <a:ext cx="2819400" cy="2362500"/>
      </dsp:txXfrm>
    </dsp:sp>
    <dsp:sp modelId="{E0EC07FF-F5E6-4FF8-A909-47BFA120E897}">
      <dsp:nvSpPr>
        <dsp:cNvPr id="0" name=""/>
        <dsp:cNvSpPr/>
      </dsp:nvSpPr>
      <dsp:spPr>
        <a:xfrm>
          <a:off x="140970" y="711"/>
          <a:ext cx="1973580" cy="44280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597" tIns="0" rIns="74597" bIns="0" numCol="1" spcCol="1270" anchor="ctr" anchorCtr="0">
          <a:noAutofit/>
        </a:bodyPr>
        <a:lstStyle/>
        <a:p>
          <a:pPr lvl="0" algn="l" defTabSz="666750" rtl="0">
            <a:lnSpc>
              <a:spcPct val="90000"/>
            </a:lnSpc>
            <a:spcBef>
              <a:spcPct val="0"/>
            </a:spcBef>
            <a:spcAft>
              <a:spcPct val="35000"/>
            </a:spcAft>
          </a:pPr>
          <a:r>
            <a:rPr lang="en-US" sz="1500" kern="1200" smtClean="0"/>
            <a:t>EXCEL HEADERS</a:t>
          </a:r>
          <a:endParaRPr lang="en-IN" sz="1500" kern="1200"/>
        </a:p>
      </dsp:txBody>
      <dsp:txXfrm>
        <a:off x="162586" y="22327"/>
        <a:ext cx="1930348" cy="3995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B0A689-EA19-4CCE-9FB1-908A95BF2074}">
      <dsp:nvSpPr>
        <dsp:cNvPr id="0" name=""/>
        <dsp:cNvSpPr/>
      </dsp:nvSpPr>
      <dsp:spPr>
        <a:xfrm>
          <a:off x="4790" y="108629"/>
          <a:ext cx="2457673" cy="983069"/>
        </a:xfrm>
        <a:prstGeom prst="chevron">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0" bIns="17145" numCol="1" spcCol="1270" anchor="ctr" anchorCtr="0">
          <a:noAutofit/>
        </a:bodyPr>
        <a:lstStyle/>
        <a:p>
          <a:pPr lvl="0" algn="ctr" defTabSz="1200150" rtl="0">
            <a:lnSpc>
              <a:spcPct val="90000"/>
            </a:lnSpc>
            <a:spcBef>
              <a:spcPct val="0"/>
            </a:spcBef>
            <a:spcAft>
              <a:spcPct val="35000"/>
            </a:spcAft>
          </a:pPr>
          <a:r>
            <a:rPr lang="en-US" sz="2700" kern="1200" smtClean="0"/>
            <a:t>INSIGHTS:</a:t>
          </a:r>
          <a:endParaRPr lang="en-IN" sz="2700" kern="1200"/>
        </a:p>
      </dsp:txBody>
      <dsp:txXfrm>
        <a:off x="496325" y="108629"/>
        <a:ext cx="1474604" cy="983069"/>
      </dsp:txXfrm>
    </dsp:sp>
    <dsp:sp modelId="{78BE7751-A7C0-4CA8-BD2E-39DF5993EB2F}">
      <dsp:nvSpPr>
        <dsp:cNvPr id="0" name=""/>
        <dsp:cNvSpPr/>
      </dsp:nvSpPr>
      <dsp:spPr>
        <a:xfrm>
          <a:off x="2142966" y="192190"/>
          <a:ext cx="2039868" cy="815947"/>
        </a:xfrm>
        <a:prstGeom prst="chevron">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9525" rIns="0" bIns="9525" numCol="1" spcCol="1270" anchor="ctr" anchorCtr="0">
          <a:noAutofit/>
        </a:bodyPr>
        <a:lstStyle/>
        <a:p>
          <a:pPr lvl="0" algn="ctr" defTabSz="666750" rtl="0">
            <a:lnSpc>
              <a:spcPct val="90000"/>
            </a:lnSpc>
            <a:spcBef>
              <a:spcPct val="0"/>
            </a:spcBef>
            <a:spcAft>
              <a:spcPct val="35000"/>
            </a:spcAft>
          </a:pPr>
          <a:r>
            <a:rPr lang="en-US" sz="1500" b="1" kern="1200" smtClean="0"/>
            <a:t>UNIBICS</a:t>
          </a:r>
          <a:r>
            <a:rPr lang="en-US" sz="1500" kern="1200" smtClean="0"/>
            <a:t xml:space="preserve"> tops the performance</a:t>
          </a:r>
          <a:endParaRPr lang="en-IN" sz="1500" kern="1200"/>
        </a:p>
      </dsp:txBody>
      <dsp:txXfrm>
        <a:off x="2550940" y="192190"/>
        <a:ext cx="1223921" cy="815947"/>
      </dsp:txXfrm>
    </dsp:sp>
    <dsp:sp modelId="{498A8113-99D6-4073-B96C-C424B0A419FA}">
      <dsp:nvSpPr>
        <dsp:cNvPr id="0" name=""/>
        <dsp:cNvSpPr/>
      </dsp:nvSpPr>
      <dsp:spPr>
        <a:xfrm>
          <a:off x="3897253" y="192190"/>
          <a:ext cx="2039868" cy="815947"/>
        </a:xfrm>
        <a:prstGeom prst="chevron">
          <a:avLst/>
        </a:prstGeom>
        <a:solidFill>
          <a:schemeClr val="accent4">
            <a:tint val="40000"/>
            <a:alpha val="90000"/>
            <a:hueOff val="-1972853"/>
            <a:satOff val="11079"/>
            <a:lumOff val="704"/>
            <a:alphaOff val="0"/>
          </a:schemeClr>
        </a:solidFill>
        <a:ln w="25400" cap="flat" cmpd="sng" algn="ctr">
          <a:solidFill>
            <a:schemeClr val="accent4">
              <a:tint val="40000"/>
              <a:alpha val="90000"/>
              <a:hueOff val="-1972853"/>
              <a:satOff val="11079"/>
              <a:lumOff val="70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9525" rIns="0" bIns="9525" numCol="1" spcCol="1270" anchor="ctr" anchorCtr="0">
          <a:noAutofit/>
        </a:bodyPr>
        <a:lstStyle/>
        <a:p>
          <a:pPr lvl="0" algn="ctr" defTabSz="666750" rtl="0">
            <a:lnSpc>
              <a:spcPct val="90000"/>
            </a:lnSpc>
            <a:spcBef>
              <a:spcPct val="0"/>
            </a:spcBef>
            <a:spcAft>
              <a:spcPct val="35000"/>
            </a:spcAft>
          </a:pPr>
          <a:r>
            <a:rPr lang="en-US" sz="1500" kern="1200" smtClean="0"/>
            <a:t xml:space="preserve">Followed by </a:t>
          </a:r>
          <a:r>
            <a:rPr lang="en-US" sz="1500" b="1" kern="1200" smtClean="0"/>
            <a:t>LITTLE HEARTS</a:t>
          </a:r>
          <a:r>
            <a:rPr lang="en-US" sz="1500" kern="1200" smtClean="0"/>
            <a:t xml:space="preserve"> and </a:t>
          </a:r>
          <a:r>
            <a:rPr lang="en-US" sz="1500" b="1" kern="1200" smtClean="0"/>
            <a:t>OREO</a:t>
          </a:r>
          <a:endParaRPr lang="en-IN" sz="1500" kern="1200"/>
        </a:p>
      </dsp:txBody>
      <dsp:txXfrm>
        <a:off x="4305227" y="192190"/>
        <a:ext cx="1223921" cy="815947"/>
      </dsp:txXfrm>
    </dsp:sp>
    <dsp:sp modelId="{BAE2F638-DC9F-4F88-B00C-6EC6A55DE567}">
      <dsp:nvSpPr>
        <dsp:cNvPr id="0" name=""/>
        <dsp:cNvSpPr/>
      </dsp:nvSpPr>
      <dsp:spPr>
        <a:xfrm>
          <a:off x="5651540" y="192190"/>
          <a:ext cx="2039868" cy="815947"/>
        </a:xfrm>
        <a:prstGeom prst="chevron">
          <a:avLst/>
        </a:prstGeom>
        <a:solidFill>
          <a:schemeClr val="accent4">
            <a:tint val="40000"/>
            <a:alpha val="90000"/>
            <a:hueOff val="-3945706"/>
            <a:satOff val="22157"/>
            <a:lumOff val="1408"/>
            <a:alphaOff val="0"/>
          </a:schemeClr>
        </a:solidFill>
        <a:ln w="25400" cap="flat" cmpd="sng" algn="ctr">
          <a:solidFill>
            <a:schemeClr val="accent4">
              <a:tint val="40000"/>
              <a:alpha val="90000"/>
              <a:hueOff val="-3945706"/>
              <a:satOff val="22157"/>
              <a:lumOff val="140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9525" rIns="0" bIns="9525" numCol="1" spcCol="1270" anchor="ctr" anchorCtr="0">
          <a:noAutofit/>
        </a:bodyPr>
        <a:lstStyle/>
        <a:p>
          <a:pPr lvl="0" algn="ctr" defTabSz="666750" rtl="0">
            <a:lnSpc>
              <a:spcPct val="90000"/>
            </a:lnSpc>
            <a:spcBef>
              <a:spcPct val="0"/>
            </a:spcBef>
            <a:spcAft>
              <a:spcPct val="35000"/>
            </a:spcAft>
          </a:pPr>
          <a:r>
            <a:rPr lang="en-US" sz="1500" b="1" kern="1200" smtClean="0"/>
            <a:t>SUNFEAST</a:t>
          </a:r>
          <a:r>
            <a:rPr lang="en-US" sz="1500" kern="1200" smtClean="0"/>
            <a:t xml:space="preserve"> is the poor performer</a:t>
          </a:r>
          <a:endParaRPr lang="en-IN" sz="1500" kern="1200"/>
        </a:p>
      </dsp:txBody>
      <dsp:txXfrm>
        <a:off x="6059514" y="192190"/>
        <a:ext cx="1223921" cy="8159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9FE82B-D10A-4E1D-B50A-9AEC63998DB4}">
      <dsp:nvSpPr>
        <dsp:cNvPr id="0" name=""/>
        <dsp:cNvSpPr/>
      </dsp:nvSpPr>
      <dsp:spPr>
        <a:xfrm>
          <a:off x="645846" y="0"/>
          <a:ext cx="861774" cy="646331"/>
        </a:xfrm>
        <a:prstGeom prst="upArrow">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E850C7-053B-425A-A7E6-739C5E3B69CD}">
      <dsp:nvSpPr>
        <dsp:cNvPr id="0" name=""/>
        <dsp:cNvSpPr/>
      </dsp:nvSpPr>
      <dsp:spPr>
        <a:xfrm>
          <a:off x="1533473" y="0"/>
          <a:ext cx="2773680" cy="6463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0" rIns="120904" bIns="120904" numCol="1" spcCol="1270" anchor="ctr" anchorCtr="0">
          <a:noAutofit/>
        </a:bodyPr>
        <a:lstStyle/>
        <a:p>
          <a:pPr lvl="0" algn="l" defTabSz="755650" rtl="0">
            <a:lnSpc>
              <a:spcPct val="90000"/>
            </a:lnSpc>
            <a:spcBef>
              <a:spcPct val="0"/>
            </a:spcBef>
            <a:spcAft>
              <a:spcPct val="35000"/>
            </a:spcAft>
          </a:pPr>
          <a:r>
            <a:rPr lang="en-US" sz="1700" b="1" kern="1200" dirty="0" smtClean="0"/>
            <a:t>MALE</a:t>
          </a:r>
          <a:r>
            <a:rPr lang="en-US" sz="1700" kern="1200" dirty="0" smtClean="0"/>
            <a:t xml:space="preserve"> alone contributes about </a:t>
          </a:r>
          <a:r>
            <a:rPr lang="en-US" sz="1700" b="1" kern="1200" dirty="0" smtClean="0"/>
            <a:t xml:space="preserve">84.44% </a:t>
          </a:r>
          <a:r>
            <a:rPr lang="en-US" sz="1700" kern="1200" dirty="0" smtClean="0"/>
            <a:t xml:space="preserve">in total profits </a:t>
          </a:r>
          <a:endParaRPr lang="en-IN" sz="1700" kern="1200" dirty="0"/>
        </a:p>
      </dsp:txBody>
      <dsp:txXfrm>
        <a:off x="1533473" y="0"/>
        <a:ext cx="2773680" cy="64633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741899-76FD-48A5-AE7B-05C64BAC4DAF}">
      <dsp:nvSpPr>
        <dsp:cNvPr id="0" name=""/>
        <dsp:cNvSpPr/>
      </dsp:nvSpPr>
      <dsp:spPr>
        <a:xfrm>
          <a:off x="0" y="103850"/>
          <a:ext cx="6096000" cy="671580"/>
        </a:xfrm>
        <a:prstGeom prst="roundRect">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kern="1200" dirty="0" smtClean="0"/>
            <a:t>69+ age group people bus biscuits often</a:t>
          </a:r>
        </a:p>
      </dsp:txBody>
      <dsp:txXfrm>
        <a:off x="32784" y="136634"/>
        <a:ext cx="6030432" cy="606012"/>
      </dsp:txXfrm>
    </dsp:sp>
    <dsp:sp modelId="{660BA06B-E6DD-4490-A823-DFD5A3F896CC}">
      <dsp:nvSpPr>
        <dsp:cNvPr id="0" name=""/>
        <dsp:cNvSpPr/>
      </dsp:nvSpPr>
      <dsp:spPr>
        <a:xfrm>
          <a:off x="0" y="775430"/>
          <a:ext cx="6096000"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548"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dirty="0" smtClean="0"/>
            <a:t>Biscuits are rarely purchased by 18-28 age category</a:t>
          </a:r>
          <a:endParaRPr lang="en-IN" sz="2200" kern="1200" dirty="0"/>
        </a:p>
      </dsp:txBody>
      <dsp:txXfrm>
        <a:off x="0" y="775430"/>
        <a:ext cx="6096000" cy="6955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E2A21F-BBEB-49CE-AC39-56B1FFD4F2BE}">
      <dsp:nvSpPr>
        <dsp:cNvPr id="0" name=""/>
        <dsp:cNvSpPr/>
      </dsp:nvSpPr>
      <dsp:spPr>
        <a:xfrm>
          <a:off x="0" y="0"/>
          <a:ext cx="646331" cy="646331"/>
        </a:xfrm>
        <a:prstGeom prst="pie">
          <a:avLst>
            <a:gd name="adj1" fmla="val 5400000"/>
            <a:gd name="adj2" fmla="val 1620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E30ECC-09E4-4223-946B-028F65BA1828}">
      <dsp:nvSpPr>
        <dsp:cNvPr id="0" name=""/>
        <dsp:cNvSpPr/>
      </dsp:nvSpPr>
      <dsp:spPr>
        <a:xfrm>
          <a:off x="323165" y="0"/>
          <a:ext cx="3105834" cy="646331"/>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t>An Antonio tops the sales by location</a:t>
          </a:r>
          <a:endParaRPr lang="en-IN" sz="1800" kern="1200" dirty="0"/>
        </a:p>
      </dsp:txBody>
      <dsp:txXfrm>
        <a:off x="323165" y="0"/>
        <a:ext cx="3105834" cy="64633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0.png"/><Relationship Id="rId7" Type="http://schemas.openxmlformats.org/officeDocument/2006/relationships/diagramColors" Target="../diagrams/colors5.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9.xml.rels><?xml version="1.0" encoding="UTF-8"?><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2.png"/><Relationship Id="rId7" Type="http://schemas.openxmlformats.org/officeDocument/2006/relationships/diagramColors" Target="../diagrams/colors6.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0.xml.rels><?xml version="1.0" encoding="UTF-8"?><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BG_Biscuit"/>
          <p:cNvPicPr>
            <a:picLocks noChangeAspect="1"/>
          </p:cNvPicPr>
          <p:nvPr/>
        </p:nvPicPr>
        <p:blipFill>
          <a:blip r:embed="rId2"/>
          <a:stretch>
            <a:fillRect/>
          </a:stretch>
        </p:blipFill>
        <p:spPr>
          <a:xfrm>
            <a:off x="0" y="0"/>
            <a:ext cx="9144000" cy="6858000"/>
          </a:xfrm>
          <a:prstGeom prst="rect">
            <a:avLst/>
          </a:prstGeom>
        </p:spPr>
      </p:pic>
      <p:sp>
        <p:nvSpPr>
          <p:cNvPr id="104" name="GoldAccent"/>
          <p:cNvSpPr>
            <a:spLocks noGrp="1"/>
          </p:cNvSpPr>
          <p:nvPr/>
        </p:nvSpPr>
        <p:spPr>
          <a:xfrm>
            <a:off x="685800" y="3600000"/>
            <a:ext cx="3000000" cy="80000"/>
          </a:xfrm>
          <a:prstGeom prst="rect">
            <a:avLst/>
          </a:prstGeom>
          <a:solidFill>
            <a:srgbClr val="C9A84C"/>
          </a:solidFill>
          <a:ln>
            <a:noFill/>
          </a:ln>
        </p:spPr>
        <p:txBody>
          <a:bodyPr/>
          <a:lstStyle/>
          <a:p>
            <a:endParaRPr/>
          </a:p>
        </p:txBody>
      </p:sp>
      <p:sp>
        <p:nvSpPr>
          <p:cNvPr id="2" name="Title 1"/>
          <p:cNvSpPr>
            <a:spLocks noGrp="1"/>
          </p:cNvSpPr>
          <p:nvPr>
            <p:ph type="ctrTitle"/>
          </p:nvPr>
        </p:nvSpPr>
        <p:spPr>
          <a:xfrm>
            <a:off x="685800" y="2000000"/>
            <a:ext cx="7772400" cy="1200000"/>
          </a:xfrm>
        </p:spPr>
        <p:txBody>
          <a:bodyPr anchor="ctr"/>
          <a:lstStyle/>
          <a:p>
            <a:pPr algn="l"/>
            <a:r>
              <a:rPr lang="en-US" sz="4400" b="1" dirty="0" smtClean="0">
                <a:solidFill>
                  <a:srgbClr val="FFFFFF"/>
                </a:solidFill>
                <a:latin typeface="Calibri"/>
              </a:rPr>
              <a:t>B &amp; J BISCUIT COMPANY</a:t>
            </a:r>
          </a:p>
        </p:txBody>
      </p:sp>
      <p:sp>
        <p:nvSpPr>
          <p:cNvPr id="3" name="Subtitle 2"/>
          <p:cNvSpPr>
            <a:spLocks noGrp="1"/>
          </p:cNvSpPr>
          <p:nvPr>
            <p:ph type="subTitle" idx="1"/>
          </p:nvPr>
        </p:nvSpPr>
        <p:spPr>
          <a:xfrm>
            <a:off x="685800" y="3800000"/>
            <a:ext cx="5000000" cy="600000"/>
          </a:xfrm>
        </p:spPr>
        <p:txBody>
          <a:bodyPr/>
          <a:lstStyle/>
          <a:p>
            <a:pPr algn="l"/>
            <a:r>
              <a:rPr lang="en-US" sz="2000" b="0" dirty="0" smtClean="0">
                <a:solidFill>
                  <a:srgbClr val="C9A84C"/>
                </a:solidFill>
                <a:latin typeface="Calibri"/>
              </a:rPr>
              <a:t>RETAIL SALES ANALYSIS</a:t>
            </a:r>
          </a:p>
        </p:txBody>
      </p:sp>
    </p:spTree>
    <p:extLst>
      <p:ext uri="{BB962C8B-B14F-4D97-AF65-F5344CB8AC3E}">
        <p14:creationId xmlns:p14="http://schemas.microsoft.com/office/powerpoint/2010/main" val="16115349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_Light"/>
          <p:cNvSpPr>
            <a:spLocks noGrp="1"/>
          </p:cNvSpPr>
          <p:nvPr/>
        </p:nvSpPr>
        <p:spPr>
          <a:xfrm>
            <a:off x="0" y="0"/>
            <a:ext cx="9144000" cy="6858000"/>
          </a:xfrm>
          <a:prstGeom prst="rect">
            <a:avLst/>
          </a:prstGeom>
          <a:solidFill>
            <a:srgbClr val="F0F4FA"/>
          </a:solidFill>
          <a:ln>
            <a:noFill/>
          </a:ln>
        </p:spPr>
        <p:txBody>
          <a:bodyPr/>
          <a:lstStyle/>
          <a:p>
            <a:endParaRPr/>
          </a:p>
        </p:txBody>
      </p:sp>
      <p:sp>
        <p:nvSpPr>
          <p:cNvPr id="101" name="TitleBar"/>
          <p:cNvSpPr>
            <a:spLocks noGrp="1"/>
          </p:cNvSpPr>
          <p:nvPr/>
        </p:nvSpPr>
        <p:spPr>
          <a:xfrm>
            <a:off x="0" y="0"/>
            <a:ext cx="9144000" cy="1100000"/>
          </a:xfrm>
          <a:prstGeom prst="rect">
            <a:avLst/>
          </a:prstGeom>
          <a:solidFill>
            <a:srgbClr val="1B2A4A"/>
          </a:solidFill>
          <a:ln>
            <a:noFill/>
          </a:ln>
        </p:spPr>
        <p:txBody>
          <a:bodyPr/>
          <a:lstStyle/>
          <a:p>
            <a:endParaRPr/>
          </a:p>
        </p:txBody>
      </p:sp>
      <p:sp>
        <p:nvSpPr>
          <p:cNvPr id="102" name="GoldBar"/>
          <p:cNvSpPr>
            <a:spLocks noGrp="1"/>
          </p:cNvSpPr>
          <p:nvPr/>
        </p:nvSpPr>
        <p:spPr>
          <a:xfrm>
            <a:off x="0" y="1100000"/>
            <a:ext cx="9144000" cy="55000"/>
          </a:xfrm>
          <a:prstGeom prst="rect">
            <a:avLst/>
          </a:prstGeom>
          <a:solidFill>
            <a:srgbClr val="C9A84C"/>
          </a:solidFill>
          <a:ln>
            <a:noFill/>
          </a:ln>
        </p:spPr>
        <p:txBody>
          <a:bodyPr/>
          <a:lstStyle/>
          <a:p>
            <a:endParaRPr/>
          </a:p>
        </p:txBody>
      </p:sp>
      <p:sp>
        <p:nvSpPr>
          <p:cNvPr id="103" name="BottomBar"/>
          <p:cNvSpPr>
            <a:spLocks noGrp="1"/>
          </p:cNvSpPr>
          <p:nvPr/>
        </p:nvSpPr>
        <p:spPr>
          <a:xfrm>
            <a:off x="0" y="6400000"/>
            <a:ext cx="9144000" cy="458000"/>
          </a:xfrm>
          <a:prstGeom prst="rect">
            <a:avLst/>
          </a:prstGeom>
          <a:solidFill>
            <a:srgbClr val="2C3E6B"/>
          </a:solidFill>
          <a:ln>
            <a:noFill/>
          </a:ln>
        </p:spPr>
        <p:txBody>
          <a:bodyPr anchor="ctr"/>
          <a:lstStyle/>
          <a:p>
            <a:pPr algn="r"/>
            <a:r>
              <a:rPr lang="en-US" sz="900" b="0">
                <a:solidFill>
                  <a:srgbClr val="AABBCC"/>
                </a:solidFill>
              </a:rPr>
              <a:t>B &amp; J Biscuit Company  |  Retail Sales Analysis</a:t>
            </a:r>
          </a:p>
        </p:txBody>
      </p:sp>
      <p:sp>
        <p:nvSpPr>
          <p:cNvPr id="2" name="Title 1"/>
          <p:cNvSpPr>
            <a:spLocks noGrp="1"/>
          </p:cNvSpPr>
          <p:nvPr>
            <p:ph type="title"/>
          </p:nvPr>
        </p:nvSpPr>
        <p:spPr>
          <a:xfrm>
            <a:off x="457200" y="130000"/>
            <a:ext cx="8229600" cy="840000"/>
          </a:xfrm>
        </p:spPr>
        <p:txBody>
          <a:bodyPr/>
          <a:lstStyle/>
          <a:p>
            <a:r>
              <a:rPr lang="en-US" dirty="0" smtClean="0">
                <a:solidFill>
                  <a:srgbClr val="FFFFFF"/>
                </a:solidFill>
              </a:rPr>
              <a:t>DATA SET OVERVIEW</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58518017"/>
              </p:ext>
            </p:extLst>
          </p:nvPr>
        </p:nvGraphicFramePr>
        <p:xfrm>
          <a:off x="457200" y="1600201"/>
          <a:ext cx="4800600" cy="3657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2714983296"/>
              </p:ext>
            </p:extLst>
          </p:nvPr>
        </p:nvGraphicFramePr>
        <p:xfrm>
          <a:off x="5943600" y="1828800"/>
          <a:ext cx="2819400" cy="258532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9763655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_Light"/>
          <p:cNvSpPr>
            <a:spLocks noGrp="1"/>
          </p:cNvSpPr>
          <p:nvPr/>
        </p:nvSpPr>
        <p:spPr>
          <a:xfrm>
            <a:off x="0" y="0"/>
            <a:ext cx="9144000" cy="6858000"/>
          </a:xfrm>
          <a:prstGeom prst="rect">
            <a:avLst/>
          </a:prstGeom>
          <a:solidFill>
            <a:srgbClr val="F0F4FA"/>
          </a:solidFill>
          <a:ln>
            <a:noFill/>
          </a:ln>
        </p:spPr>
        <p:txBody>
          <a:bodyPr/>
          <a:lstStyle/>
          <a:p>
            <a:endParaRPr/>
          </a:p>
        </p:txBody>
      </p:sp>
      <p:sp>
        <p:nvSpPr>
          <p:cNvPr id="101" name="TitleBar"/>
          <p:cNvSpPr>
            <a:spLocks noGrp="1"/>
          </p:cNvSpPr>
          <p:nvPr/>
        </p:nvSpPr>
        <p:spPr>
          <a:xfrm>
            <a:off x="0" y="0"/>
            <a:ext cx="9144000" cy="1100000"/>
          </a:xfrm>
          <a:prstGeom prst="rect">
            <a:avLst/>
          </a:prstGeom>
          <a:solidFill>
            <a:srgbClr val="1B2A4A"/>
          </a:solidFill>
          <a:ln>
            <a:noFill/>
          </a:ln>
        </p:spPr>
        <p:txBody>
          <a:bodyPr/>
          <a:lstStyle/>
          <a:p>
            <a:endParaRPr/>
          </a:p>
        </p:txBody>
      </p:sp>
      <p:sp>
        <p:nvSpPr>
          <p:cNvPr id="102" name="GoldBar"/>
          <p:cNvSpPr>
            <a:spLocks noGrp="1"/>
          </p:cNvSpPr>
          <p:nvPr/>
        </p:nvSpPr>
        <p:spPr>
          <a:xfrm>
            <a:off x="0" y="1100000"/>
            <a:ext cx="9144000" cy="55000"/>
          </a:xfrm>
          <a:prstGeom prst="rect">
            <a:avLst/>
          </a:prstGeom>
          <a:solidFill>
            <a:srgbClr val="C9A84C"/>
          </a:solidFill>
          <a:ln>
            <a:noFill/>
          </a:ln>
        </p:spPr>
        <p:txBody>
          <a:bodyPr/>
          <a:lstStyle/>
          <a:p>
            <a:endParaRPr/>
          </a:p>
        </p:txBody>
      </p:sp>
      <p:sp>
        <p:nvSpPr>
          <p:cNvPr id="103" name="BottomBar"/>
          <p:cNvSpPr>
            <a:spLocks noGrp="1"/>
          </p:cNvSpPr>
          <p:nvPr/>
        </p:nvSpPr>
        <p:spPr>
          <a:xfrm>
            <a:off x="0" y="6400000"/>
            <a:ext cx="9144000" cy="458000"/>
          </a:xfrm>
          <a:prstGeom prst="rect">
            <a:avLst/>
          </a:prstGeom>
          <a:solidFill>
            <a:srgbClr val="2C3E6B"/>
          </a:solidFill>
          <a:ln>
            <a:noFill/>
          </a:ln>
        </p:spPr>
        <p:txBody>
          <a:bodyPr anchor="ctr"/>
          <a:lstStyle/>
          <a:p>
            <a:pPr algn="r"/>
            <a:r>
              <a:rPr lang="en-US" sz="900" b="0">
                <a:solidFill>
                  <a:srgbClr val="AABBCC"/>
                </a:solidFill>
              </a:rPr>
              <a:t>B &amp; J Biscuit Company  |  Retail Sales Analysis</a:t>
            </a:r>
          </a:p>
        </p:txBody>
      </p:sp>
      <p:sp>
        <p:nvSpPr>
          <p:cNvPr id="2" name="Title 1"/>
          <p:cNvSpPr>
            <a:spLocks noGrp="1"/>
          </p:cNvSpPr>
          <p:nvPr>
            <p:ph type="title"/>
          </p:nvPr>
        </p:nvSpPr>
        <p:spPr>
          <a:xfrm>
            <a:off x="457200" y="130000"/>
            <a:ext cx="8229600" cy="840000"/>
          </a:xfrm>
        </p:spPr>
        <p:txBody>
          <a:bodyPr/>
          <a:lstStyle/>
          <a:p>
            <a:r>
              <a:rPr lang="en-US" dirty="0" smtClean="0">
                <a:solidFill>
                  <a:srgbClr val="FFFFFF"/>
                </a:solidFill>
              </a:rPr>
              <a:t>DATA CLEANING</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40761"/>
            <a:ext cx="8229600" cy="4444841"/>
          </a:xfrm>
        </p:spPr>
      </p:pic>
    </p:spTree>
    <p:extLst>
      <p:ext uri="{BB962C8B-B14F-4D97-AF65-F5344CB8AC3E}">
        <p14:creationId xmlns:p14="http://schemas.microsoft.com/office/powerpoint/2010/main" val="5712856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_Light"/>
          <p:cNvSpPr>
            <a:spLocks noGrp="1"/>
          </p:cNvSpPr>
          <p:nvPr/>
        </p:nvSpPr>
        <p:spPr>
          <a:xfrm>
            <a:off x="0" y="0"/>
            <a:ext cx="9144000" cy="6858000"/>
          </a:xfrm>
          <a:prstGeom prst="rect">
            <a:avLst/>
          </a:prstGeom>
          <a:solidFill>
            <a:srgbClr val="F0F4FA"/>
          </a:solidFill>
          <a:ln>
            <a:noFill/>
          </a:ln>
        </p:spPr>
        <p:txBody>
          <a:bodyPr/>
          <a:lstStyle/>
          <a:p>
            <a:endParaRPr/>
          </a:p>
        </p:txBody>
      </p:sp>
      <p:sp>
        <p:nvSpPr>
          <p:cNvPr id="101" name="TitleBar"/>
          <p:cNvSpPr>
            <a:spLocks noGrp="1"/>
          </p:cNvSpPr>
          <p:nvPr/>
        </p:nvSpPr>
        <p:spPr>
          <a:xfrm>
            <a:off x="0" y="0"/>
            <a:ext cx="9144000" cy="1100000"/>
          </a:xfrm>
          <a:prstGeom prst="rect">
            <a:avLst/>
          </a:prstGeom>
          <a:solidFill>
            <a:srgbClr val="1B2A4A"/>
          </a:solidFill>
          <a:ln>
            <a:noFill/>
          </a:ln>
        </p:spPr>
        <p:txBody>
          <a:bodyPr/>
          <a:lstStyle/>
          <a:p>
            <a:endParaRPr/>
          </a:p>
        </p:txBody>
      </p:sp>
      <p:sp>
        <p:nvSpPr>
          <p:cNvPr id="102" name="GoldBar"/>
          <p:cNvSpPr>
            <a:spLocks noGrp="1"/>
          </p:cNvSpPr>
          <p:nvPr/>
        </p:nvSpPr>
        <p:spPr>
          <a:xfrm>
            <a:off x="0" y="1100000"/>
            <a:ext cx="9144000" cy="55000"/>
          </a:xfrm>
          <a:prstGeom prst="rect">
            <a:avLst/>
          </a:prstGeom>
          <a:solidFill>
            <a:srgbClr val="C9A84C"/>
          </a:solidFill>
          <a:ln>
            <a:noFill/>
          </a:ln>
        </p:spPr>
        <p:txBody>
          <a:bodyPr/>
          <a:lstStyle/>
          <a:p>
            <a:endParaRPr/>
          </a:p>
        </p:txBody>
      </p:sp>
      <p:sp>
        <p:nvSpPr>
          <p:cNvPr id="103" name="BottomBar"/>
          <p:cNvSpPr>
            <a:spLocks noGrp="1"/>
          </p:cNvSpPr>
          <p:nvPr/>
        </p:nvSpPr>
        <p:spPr>
          <a:xfrm>
            <a:off x="0" y="6400000"/>
            <a:ext cx="9144000" cy="458000"/>
          </a:xfrm>
          <a:prstGeom prst="rect">
            <a:avLst/>
          </a:prstGeom>
          <a:solidFill>
            <a:srgbClr val="2C3E6B"/>
          </a:solidFill>
          <a:ln>
            <a:noFill/>
          </a:ln>
        </p:spPr>
        <p:txBody>
          <a:bodyPr anchor="ctr"/>
          <a:lstStyle/>
          <a:p>
            <a:pPr algn="r"/>
            <a:r>
              <a:rPr lang="en-US" sz="900" b="0">
                <a:solidFill>
                  <a:srgbClr val="AABBCC"/>
                </a:solidFill>
              </a:rPr>
              <a:t>B &amp; J Biscuit Company  |  Retail Sales Analysis</a:t>
            </a:r>
          </a:p>
        </p:txBody>
      </p:sp>
      <p:sp>
        <p:nvSpPr>
          <p:cNvPr id="2" name="Title 1"/>
          <p:cNvSpPr>
            <a:spLocks noGrp="1"/>
          </p:cNvSpPr>
          <p:nvPr>
            <p:ph type="title"/>
          </p:nvPr>
        </p:nvSpPr>
        <p:spPr>
          <a:xfrm>
            <a:off x="457200" y="130000"/>
            <a:ext cx="8229600" cy="840000"/>
          </a:xfrm>
        </p:spPr>
        <p:txBody>
          <a:bodyPr/>
          <a:lstStyle/>
          <a:p>
            <a:r>
              <a:rPr lang="en-US" dirty="0" smtClean="0">
                <a:solidFill>
                  <a:srgbClr val="FFFFFF"/>
                </a:solidFill>
              </a:rPr>
              <a:t>REVENUE BY PRODUCTS</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9400" y="1295400"/>
            <a:ext cx="3124200" cy="3276600"/>
          </a:xfrm>
        </p:spPr>
      </p:pic>
      <p:sp>
        <p:nvSpPr>
          <p:cNvPr id="5" name="TextBox 4"/>
          <p:cNvSpPr txBox="1"/>
          <p:nvPr/>
        </p:nvSpPr>
        <p:spPr>
          <a:xfrm>
            <a:off x="4648200" y="1905000"/>
            <a:ext cx="4191000" cy="369332"/>
          </a:xfrm>
          <a:prstGeom prst="rect">
            <a:avLst/>
          </a:prstGeom>
          <a:noFill/>
        </p:spPr>
        <p:txBody>
          <a:bodyPr wrap="square" rtlCol="0">
            <a:spAutoFit/>
          </a:bodyPr>
          <a:lstStyle/>
          <a:p>
            <a:endParaRPr lang="en-IN" dirty="0"/>
          </a:p>
        </p:txBody>
      </p:sp>
      <p:graphicFrame>
        <p:nvGraphicFramePr>
          <p:cNvPr id="7" name="Diagram 6"/>
          <p:cNvGraphicFramePr/>
          <p:nvPr>
            <p:extLst>
              <p:ext uri="{D42A27DB-BD31-4B8C-83A1-F6EECF244321}">
                <p14:modId xmlns:p14="http://schemas.microsoft.com/office/powerpoint/2010/main" val="1564026601"/>
              </p:ext>
            </p:extLst>
          </p:nvPr>
        </p:nvGraphicFramePr>
        <p:xfrm>
          <a:off x="609600" y="4876800"/>
          <a:ext cx="7696200" cy="12003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966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_Light"/>
          <p:cNvSpPr>
            <a:spLocks noGrp="1"/>
          </p:cNvSpPr>
          <p:nvPr/>
        </p:nvSpPr>
        <p:spPr>
          <a:xfrm>
            <a:off x="0" y="0"/>
            <a:ext cx="9144000" cy="6858000"/>
          </a:xfrm>
          <a:prstGeom prst="rect">
            <a:avLst/>
          </a:prstGeom>
          <a:solidFill>
            <a:srgbClr val="F0F4FA"/>
          </a:solidFill>
          <a:ln>
            <a:noFill/>
          </a:ln>
        </p:spPr>
        <p:txBody>
          <a:bodyPr/>
          <a:lstStyle/>
          <a:p>
            <a:endParaRPr/>
          </a:p>
        </p:txBody>
      </p:sp>
      <p:sp>
        <p:nvSpPr>
          <p:cNvPr id="101" name="TitleBar"/>
          <p:cNvSpPr>
            <a:spLocks noGrp="1"/>
          </p:cNvSpPr>
          <p:nvPr/>
        </p:nvSpPr>
        <p:spPr>
          <a:xfrm>
            <a:off x="0" y="0"/>
            <a:ext cx="9144000" cy="1100000"/>
          </a:xfrm>
          <a:prstGeom prst="rect">
            <a:avLst/>
          </a:prstGeom>
          <a:solidFill>
            <a:srgbClr val="1B2A4A"/>
          </a:solidFill>
          <a:ln>
            <a:noFill/>
          </a:ln>
        </p:spPr>
        <p:txBody>
          <a:bodyPr/>
          <a:lstStyle/>
          <a:p>
            <a:endParaRPr/>
          </a:p>
        </p:txBody>
      </p:sp>
      <p:sp>
        <p:nvSpPr>
          <p:cNvPr id="102" name="GoldBar"/>
          <p:cNvSpPr>
            <a:spLocks noGrp="1"/>
          </p:cNvSpPr>
          <p:nvPr/>
        </p:nvSpPr>
        <p:spPr>
          <a:xfrm>
            <a:off x="0" y="1100000"/>
            <a:ext cx="9144000" cy="55000"/>
          </a:xfrm>
          <a:prstGeom prst="rect">
            <a:avLst/>
          </a:prstGeom>
          <a:solidFill>
            <a:srgbClr val="C9A84C"/>
          </a:solidFill>
          <a:ln>
            <a:noFill/>
          </a:ln>
        </p:spPr>
        <p:txBody>
          <a:bodyPr/>
          <a:lstStyle/>
          <a:p>
            <a:endParaRPr/>
          </a:p>
        </p:txBody>
      </p:sp>
      <p:sp>
        <p:nvSpPr>
          <p:cNvPr id="103" name="BottomBar"/>
          <p:cNvSpPr>
            <a:spLocks noGrp="1"/>
          </p:cNvSpPr>
          <p:nvPr/>
        </p:nvSpPr>
        <p:spPr>
          <a:xfrm>
            <a:off x="0" y="6400000"/>
            <a:ext cx="9144000" cy="458000"/>
          </a:xfrm>
          <a:prstGeom prst="rect">
            <a:avLst/>
          </a:prstGeom>
          <a:solidFill>
            <a:srgbClr val="2C3E6B"/>
          </a:solidFill>
          <a:ln>
            <a:noFill/>
          </a:ln>
        </p:spPr>
        <p:txBody>
          <a:bodyPr anchor="ctr"/>
          <a:lstStyle/>
          <a:p>
            <a:pPr algn="r"/>
            <a:r>
              <a:rPr lang="en-US" sz="900" b="0">
                <a:solidFill>
                  <a:srgbClr val="AABBCC"/>
                </a:solidFill>
              </a:rPr>
              <a:t>B &amp; J Biscuit Company  |  Retail Sales Analysis</a:t>
            </a:r>
          </a:p>
        </p:txBody>
      </p:sp>
      <p:sp>
        <p:nvSpPr>
          <p:cNvPr id="2" name="Title 1"/>
          <p:cNvSpPr>
            <a:spLocks noGrp="1"/>
          </p:cNvSpPr>
          <p:nvPr>
            <p:ph type="title"/>
          </p:nvPr>
        </p:nvSpPr>
        <p:spPr>
          <a:xfrm>
            <a:off x="457200" y="130000"/>
            <a:ext cx="8229600" cy="840000"/>
          </a:xfrm>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76400"/>
            <a:ext cx="5257800" cy="4116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2819400"/>
            <a:ext cx="1828800" cy="235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5383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_Light"/>
          <p:cNvSpPr>
            <a:spLocks noGrp="1"/>
          </p:cNvSpPr>
          <p:nvPr/>
        </p:nvSpPr>
        <p:spPr>
          <a:xfrm>
            <a:off x="0" y="0"/>
            <a:ext cx="9144000" cy="6858000"/>
          </a:xfrm>
          <a:prstGeom prst="rect">
            <a:avLst/>
          </a:prstGeom>
          <a:solidFill>
            <a:srgbClr val="F0F4FA"/>
          </a:solidFill>
          <a:ln>
            <a:noFill/>
          </a:ln>
        </p:spPr>
        <p:txBody>
          <a:bodyPr/>
          <a:lstStyle/>
          <a:p>
            <a:endParaRPr/>
          </a:p>
        </p:txBody>
      </p:sp>
      <p:sp>
        <p:nvSpPr>
          <p:cNvPr id="101" name="TitleBar"/>
          <p:cNvSpPr>
            <a:spLocks noGrp="1"/>
          </p:cNvSpPr>
          <p:nvPr/>
        </p:nvSpPr>
        <p:spPr>
          <a:xfrm>
            <a:off x="0" y="0"/>
            <a:ext cx="9144000" cy="1100000"/>
          </a:xfrm>
          <a:prstGeom prst="rect">
            <a:avLst/>
          </a:prstGeom>
          <a:solidFill>
            <a:srgbClr val="1B2A4A"/>
          </a:solidFill>
          <a:ln>
            <a:noFill/>
          </a:ln>
        </p:spPr>
        <p:txBody>
          <a:bodyPr/>
          <a:lstStyle/>
          <a:p>
            <a:endParaRPr/>
          </a:p>
        </p:txBody>
      </p:sp>
      <p:sp>
        <p:nvSpPr>
          <p:cNvPr id="102" name="GoldBar"/>
          <p:cNvSpPr>
            <a:spLocks noGrp="1"/>
          </p:cNvSpPr>
          <p:nvPr/>
        </p:nvSpPr>
        <p:spPr>
          <a:xfrm>
            <a:off x="0" y="1100000"/>
            <a:ext cx="9144000" cy="55000"/>
          </a:xfrm>
          <a:prstGeom prst="rect">
            <a:avLst/>
          </a:prstGeom>
          <a:solidFill>
            <a:srgbClr val="C9A84C"/>
          </a:solidFill>
          <a:ln>
            <a:noFill/>
          </a:ln>
        </p:spPr>
        <p:txBody>
          <a:bodyPr/>
          <a:lstStyle/>
          <a:p>
            <a:endParaRPr/>
          </a:p>
        </p:txBody>
      </p:sp>
      <p:sp>
        <p:nvSpPr>
          <p:cNvPr id="103" name="BottomBar"/>
          <p:cNvSpPr>
            <a:spLocks noGrp="1"/>
          </p:cNvSpPr>
          <p:nvPr/>
        </p:nvSpPr>
        <p:spPr>
          <a:xfrm>
            <a:off x="0" y="6400000"/>
            <a:ext cx="9144000" cy="458000"/>
          </a:xfrm>
          <a:prstGeom prst="rect">
            <a:avLst/>
          </a:prstGeom>
          <a:solidFill>
            <a:srgbClr val="2C3E6B"/>
          </a:solidFill>
          <a:ln>
            <a:noFill/>
          </a:ln>
        </p:spPr>
        <p:txBody>
          <a:bodyPr anchor="ctr"/>
          <a:lstStyle/>
          <a:p>
            <a:pPr algn="r"/>
            <a:r>
              <a:rPr lang="en-US" sz="900" b="0">
                <a:solidFill>
                  <a:srgbClr val="AABBCC"/>
                </a:solidFill>
              </a:rPr>
              <a:t>B &amp; J Biscuit Company  |  Retail Sales Analysis</a:t>
            </a:r>
          </a:p>
        </p:txBody>
      </p:sp>
      <p:sp>
        <p:nvSpPr>
          <p:cNvPr id="2" name="Title 1"/>
          <p:cNvSpPr>
            <a:spLocks noGrp="1"/>
          </p:cNvSpPr>
          <p:nvPr>
            <p:ph type="title"/>
          </p:nvPr>
        </p:nvSpPr>
        <p:spPr>
          <a:xfrm>
            <a:off x="457200" y="130000"/>
            <a:ext cx="8229600" cy="840000"/>
          </a:xfrm>
        </p:spPr>
        <p:txBody>
          <a:bodyPr/>
          <a:lstStyle/>
          <a:p>
            <a:r>
              <a:rPr lang="en-US" dirty="0" smtClean="0">
                <a:solidFill>
                  <a:srgbClr val="FFFFFF"/>
                </a:solidFill>
              </a:rPr>
              <a:t>GENDER ANALYSIS</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438400"/>
            <a:ext cx="3733800" cy="213360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2000" y="2136514"/>
            <a:ext cx="2083984" cy="2718701"/>
          </a:xfrm>
          <a:prstGeom prst="rect">
            <a:avLst/>
          </a:prstGeom>
        </p:spPr>
      </p:pic>
    </p:spTree>
    <p:extLst>
      <p:ext uri="{BB962C8B-B14F-4D97-AF65-F5344CB8AC3E}">
        <p14:creationId xmlns:p14="http://schemas.microsoft.com/office/powerpoint/2010/main" val="37284175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_Light"/>
          <p:cNvSpPr>
            <a:spLocks noGrp="1"/>
          </p:cNvSpPr>
          <p:nvPr/>
        </p:nvSpPr>
        <p:spPr>
          <a:xfrm>
            <a:off x="0" y="0"/>
            <a:ext cx="9144000" cy="6858000"/>
          </a:xfrm>
          <a:prstGeom prst="rect">
            <a:avLst/>
          </a:prstGeom>
          <a:solidFill>
            <a:srgbClr val="F0F4FA"/>
          </a:solidFill>
          <a:ln>
            <a:noFill/>
          </a:ln>
        </p:spPr>
        <p:txBody>
          <a:bodyPr/>
          <a:lstStyle/>
          <a:p>
            <a:endParaRPr/>
          </a:p>
        </p:txBody>
      </p:sp>
      <p:sp>
        <p:nvSpPr>
          <p:cNvPr id="101" name="TitleBar"/>
          <p:cNvSpPr>
            <a:spLocks noGrp="1"/>
          </p:cNvSpPr>
          <p:nvPr/>
        </p:nvSpPr>
        <p:spPr>
          <a:xfrm>
            <a:off x="0" y="0"/>
            <a:ext cx="9144000" cy="1100000"/>
          </a:xfrm>
          <a:prstGeom prst="rect">
            <a:avLst/>
          </a:prstGeom>
          <a:solidFill>
            <a:srgbClr val="1B2A4A"/>
          </a:solidFill>
          <a:ln>
            <a:noFill/>
          </a:ln>
        </p:spPr>
        <p:txBody>
          <a:bodyPr/>
          <a:lstStyle/>
          <a:p>
            <a:endParaRPr/>
          </a:p>
        </p:txBody>
      </p:sp>
      <p:sp>
        <p:nvSpPr>
          <p:cNvPr id="102" name="GoldBar"/>
          <p:cNvSpPr>
            <a:spLocks noGrp="1"/>
          </p:cNvSpPr>
          <p:nvPr/>
        </p:nvSpPr>
        <p:spPr>
          <a:xfrm>
            <a:off x="0" y="1100000"/>
            <a:ext cx="9144000" cy="55000"/>
          </a:xfrm>
          <a:prstGeom prst="rect">
            <a:avLst/>
          </a:prstGeom>
          <a:solidFill>
            <a:srgbClr val="C9A84C"/>
          </a:solidFill>
          <a:ln>
            <a:noFill/>
          </a:ln>
        </p:spPr>
        <p:txBody>
          <a:bodyPr/>
          <a:lstStyle/>
          <a:p>
            <a:endParaRPr/>
          </a:p>
        </p:txBody>
      </p:sp>
      <p:sp>
        <p:nvSpPr>
          <p:cNvPr id="103" name="BottomBar"/>
          <p:cNvSpPr>
            <a:spLocks noGrp="1"/>
          </p:cNvSpPr>
          <p:nvPr/>
        </p:nvSpPr>
        <p:spPr>
          <a:xfrm>
            <a:off x="0" y="6400000"/>
            <a:ext cx="9144000" cy="458000"/>
          </a:xfrm>
          <a:prstGeom prst="rect">
            <a:avLst/>
          </a:prstGeom>
          <a:solidFill>
            <a:srgbClr val="2C3E6B"/>
          </a:solidFill>
          <a:ln>
            <a:noFill/>
          </a:ln>
        </p:spPr>
        <p:txBody>
          <a:bodyPr anchor="ctr"/>
          <a:lstStyle/>
          <a:p>
            <a:pPr algn="r"/>
            <a:r>
              <a:rPr lang="en-US" sz="900" b="0">
                <a:solidFill>
                  <a:srgbClr val="AABBCC"/>
                </a:solidFill>
              </a:rPr>
              <a:t>B &amp; J Biscuit Company  |  Retail Sales Analysis</a:t>
            </a:r>
          </a:p>
        </p:txBody>
      </p:sp>
      <p:sp>
        <p:nvSpPr>
          <p:cNvPr id="2" name="Title 1"/>
          <p:cNvSpPr>
            <a:spLocks noGrp="1"/>
          </p:cNvSpPr>
          <p:nvPr>
            <p:ph type="title"/>
          </p:nvPr>
        </p:nvSpPr>
        <p:spPr>
          <a:xfrm>
            <a:off x="457200" y="130000"/>
            <a:ext cx="8229600" cy="840000"/>
          </a:xfrm>
        </p:spPr>
        <p:txBody>
          <a:bodyPr/>
          <a:lstStyle/>
          <a:p>
            <a:r>
              <a:rPr lang="en-US" dirty="0" smtClean="0">
                <a:solidFill>
                  <a:srgbClr val="FFFFFF"/>
                </a:solidFill>
              </a:rPr>
              <a:t>GENDER ANALYSIS</a:t>
            </a:r>
            <a:endParaRPr lang="en-IN" dirty="0"/>
          </a:p>
        </p:txBody>
      </p:sp>
      <p:pic>
        <p:nvPicPr>
          <p:cNvPr id="4" name="Content Placeholder 3"/>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1676400" y="1400000"/>
            <a:ext cx="4735512" cy="2819400"/>
          </a:xfrm>
        </p:spPr>
      </p:pic>
      <p:graphicFrame>
        <p:nvGraphicFramePr>
          <p:cNvPr id="7" name="Diagram 6"/>
          <p:cNvGraphicFramePr/>
          <p:nvPr>
            <p:extLst>
              <p:ext uri="{D42A27DB-BD31-4B8C-83A1-F6EECF244321}">
                <p14:modId xmlns:p14="http://schemas.microsoft.com/office/powerpoint/2010/main" val="2975797034"/>
              </p:ext>
            </p:extLst>
          </p:nvPr>
        </p:nvGraphicFramePr>
        <p:xfrm>
          <a:off x="2133600" y="4900000"/>
          <a:ext cx="4953000" cy="6463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1749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_Light"/>
          <p:cNvSpPr>
            <a:spLocks noGrp="1"/>
          </p:cNvSpPr>
          <p:nvPr/>
        </p:nvSpPr>
        <p:spPr>
          <a:xfrm>
            <a:off x="76200" y="685800"/>
            <a:ext cx="9144000" cy="6858000"/>
          </a:xfrm>
          <a:prstGeom prst="rect">
            <a:avLst/>
          </a:prstGeom>
          <a:solidFill>
            <a:srgbClr val="F0F4FA"/>
          </a:solidFill>
          <a:ln>
            <a:noFill/>
          </a:ln>
        </p:spPr>
        <p:txBody>
          <a:bodyPr/>
          <a:lstStyle/>
          <a:p>
            <a:endParaRPr/>
          </a:p>
        </p:txBody>
      </p:sp>
      <p:sp>
        <p:nvSpPr>
          <p:cNvPr id="101" name="TitleBar"/>
          <p:cNvSpPr>
            <a:spLocks noGrp="1"/>
          </p:cNvSpPr>
          <p:nvPr/>
        </p:nvSpPr>
        <p:spPr>
          <a:xfrm>
            <a:off x="0" y="0"/>
            <a:ext cx="9144000" cy="1100000"/>
          </a:xfrm>
          <a:prstGeom prst="rect">
            <a:avLst/>
          </a:prstGeom>
          <a:solidFill>
            <a:srgbClr val="1B2A4A"/>
          </a:solidFill>
          <a:ln>
            <a:noFill/>
          </a:ln>
        </p:spPr>
        <p:txBody>
          <a:bodyPr/>
          <a:lstStyle/>
          <a:p>
            <a:endParaRPr/>
          </a:p>
        </p:txBody>
      </p:sp>
      <p:sp>
        <p:nvSpPr>
          <p:cNvPr id="102" name="GoldBar"/>
          <p:cNvSpPr>
            <a:spLocks noGrp="1"/>
          </p:cNvSpPr>
          <p:nvPr/>
        </p:nvSpPr>
        <p:spPr>
          <a:xfrm>
            <a:off x="0" y="1100000"/>
            <a:ext cx="9144000" cy="55000"/>
          </a:xfrm>
          <a:prstGeom prst="rect">
            <a:avLst/>
          </a:prstGeom>
          <a:solidFill>
            <a:srgbClr val="C9A84C"/>
          </a:solidFill>
          <a:ln>
            <a:noFill/>
          </a:ln>
        </p:spPr>
        <p:txBody>
          <a:bodyPr/>
          <a:lstStyle/>
          <a:p>
            <a:endParaRPr/>
          </a:p>
        </p:txBody>
      </p:sp>
      <p:sp>
        <p:nvSpPr>
          <p:cNvPr id="103" name="BottomBar"/>
          <p:cNvSpPr>
            <a:spLocks noGrp="1"/>
          </p:cNvSpPr>
          <p:nvPr/>
        </p:nvSpPr>
        <p:spPr>
          <a:xfrm>
            <a:off x="0" y="6400000"/>
            <a:ext cx="9144000" cy="458000"/>
          </a:xfrm>
          <a:prstGeom prst="rect">
            <a:avLst/>
          </a:prstGeom>
          <a:solidFill>
            <a:srgbClr val="2C3E6B"/>
          </a:solidFill>
          <a:ln>
            <a:noFill/>
          </a:ln>
        </p:spPr>
        <p:txBody>
          <a:bodyPr anchor="ctr"/>
          <a:lstStyle/>
          <a:p>
            <a:pPr algn="r"/>
            <a:r>
              <a:rPr lang="en-US" sz="900" b="0">
                <a:solidFill>
                  <a:srgbClr val="AABBCC"/>
                </a:solidFill>
              </a:rPr>
              <a:t>B &amp; J Biscuit Company  |  Retail Sales Analysis</a:t>
            </a:r>
          </a:p>
        </p:txBody>
      </p:sp>
      <p:sp>
        <p:nvSpPr>
          <p:cNvPr id="2" name="Title 1"/>
          <p:cNvSpPr>
            <a:spLocks noGrp="1"/>
          </p:cNvSpPr>
          <p:nvPr>
            <p:ph type="title"/>
          </p:nvPr>
        </p:nvSpPr>
        <p:spPr>
          <a:xfrm>
            <a:off x="457200" y="130000"/>
            <a:ext cx="8229600" cy="840000"/>
          </a:xfrm>
        </p:spPr>
        <p:txBody>
          <a:bodyPr/>
          <a:lstStyle/>
          <a:p>
            <a:r>
              <a:rPr lang="en-US" dirty="0" smtClean="0">
                <a:solidFill>
                  <a:srgbClr val="FFFFFF"/>
                </a:solidFill>
              </a:rPr>
              <a:t>AGE GROUP ANALYSIS</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860631"/>
            <a:ext cx="3581400" cy="222233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1846" y="1905000"/>
            <a:ext cx="2962554" cy="1981200"/>
          </a:xfrm>
          <a:prstGeom prst="rect">
            <a:avLst/>
          </a:prstGeom>
        </p:spPr>
      </p:pic>
      <p:graphicFrame>
        <p:nvGraphicFramePr>
          <p:cNvPr id="3" name="Diagram 2"/>
          <p:cNvGraphicFramePr/>
          <p:nvPr>
            <p:extLst>
              <p:ext uri="{D42A27DB-BD31-4B8C-83A1-F6EECF244321}">
                <p14:modId xmlns:p14="http://schemas.microsoft.com/office/powerpoint/2010/main" val="290705799"/>
              </p:ext>
            </p:extLst>
          </p:nvPr>
        </p:nvGraphicFramePr>
        <p:xfrm>
          <a:off x="1600200" y="4648200"/>
          <a:ext cx="6096000" cy="1574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15649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_Light"/>
          <p:cNvSpPr>
            <a:spLocks noGrp="1"/>
          </p:cNvSpPr>
          <p:nvPr/>
        </p:nvSpPr>
        <p:spPr>
          <a:xfrm>
            <a:off x="0" y="0"/>
            <a:ext cx="9144000" cy="6858000"/>
          </a:xfrm>
          <a:prstGeom prst="rect">
            <a:avLst/>
          </a:prstGeom>
          <a:solidFill>
            <a:srgbClr val="F0F4FA"/>
          </a:solidFill>
          <a:ln>
            <a:noFill/>
          </a:ln>
        </p:spPr>
        <p:txBody>
          <a:bodyPr/>
          <a:lstStyle/>
          <a:p>
            <a:endParaRPr/>
          </a:p>
        </p:txBody>
      </p:sp>
      <p:sp>
        <p:nvSpPr>
          <p:cNvPr id="101" name="TitleBar"/>
          <p:cNvSpPr>
            <a:spLocks noGrp="1"/>
          </p:cNvSpPr>
          <p:nvPr/>
        </p:nvSpPr>
        <p:spPr>
          <a:xfrm>
            <a:off x="0" y="0"/>
            <a:ext cx="9144000" cy="1100000"/>
          </a:xfrm>
          <a:prstGeom prst="rect">
            <a:avLst/>
          </a:prstGeom>
          <a:solidFill>
            <a:srgbClr val="1B2A4A"/>
          </a:solidFill>
          <a:ln>
            <a:noFill/>
          </a:ln>
        </p:spPr>
        <p:txBody>
          <a:bodyPr/>
          <a:lstStyle/>
          <a:p>
            <a:endParaRPr/>
          </a:p>
        </p:txBody>
      </p:sp>
      <p:sp>
        <p:nvSpPr>
          <p:cNvPr id="102" name="GoldBar"/>
          <p:cNvSpPr>
            <a:spLocks noGrp="1"/>
          </p:cNvSpPr>
          <p:nvPr/>
        </p:nvSpPr>
        <p:spPr>
          <a:xfrm>
            <a:off x="0" y="1100000"/>
            <a:ext cx="9144000" cy="55000"/>
          </a:xfrm>
          <a:prstGeom prst="rect">
            <a:avLst/>
          </a:prstGeom>
          <a:solidFill>
            <a:srgbClr val="C9A84C"/>
          </a:solidFill>
          <a:ln>
            <a:noFill/>
          </a:ln>
        </p:spPr>
        <p:txBody>
          <a:bodyPr/>
          <a:lstStyle/>
          <a:p>
            <a:endParaRPr/>
          </a:p>
        </p:txBody>
      </p:sp>
      <p:sp>
        <p:nvSpPr>
          <p:cNvPr id="103" name="BottomBar"/>
          <p:cNvSpPr>
            <a:spLocks noGrp="1"/>
          </p:cNvSpPr>
          <p:nvPr/>
        </p:nvSpPr>
        <p:spPr>
          <a:xfrm>
            <a:off x="0" y="6400000"/>
            <a:ext cx="9144000" cy="458000"/>
          </a:xfrm>
          <a:prstGeom prst="rect">
            <a:avLst/>
          </a:prstGeom>
          <a:solidFill>
            <a:srgbClr val="2C3E6B"/>
          </a:solidFill>
          <a:ln>
            <a:noFill/>
          </a:ln>
        </p:spPr>
        <p:txBody>
          <a:bodyPr anchor="ctr"/>
          <a:lstStyle/>
          <a:p>
            <a:pPr algn="r"/>
            <a:r>
              <a:rPr lang="en-US" sz="900" b="0">
                <a:solidFill>
                  <a:srgbClr val="AABBCC"/>
                </a:solidFill>
              </a:rPr>
              <a:t>B &amp; J Biscuit Company  |  Retail Sales Analysis</a:t>
            </a:r>
          </a:p>
        </p:txBody>
      </p:sp>
      <p:sp>
        <p:nvSpPr>
          <p:cNvPr id="2" name="Title 1"/>
          <p:cNvSpPr>
            <a:spLocks noGrp="1"/>
          </p:cNvSpPr>
          <p:nvPr>
            <p:ph type="title"/>
          </p:nvPr>
        </p:nvSpPr>
        <p:spPr>
          <a:xfrm>
            <a:off x="457200" y="130000"/>
            <a:ext cx="8229600" cy="840000"/>
          </a:xfrm>
        </p:spPr>
        <p:txBody>
          <a:bodyPr/>
          <a:lstStyle/>
          <a:p>
            <a:r>
              <a:rPr lang="en-US" dirty="0" smtClean="0">
                <a:solidFill>
                  <a:srgbClr val="FFFFFF"/>
                </a:solidFill>
              </a:rPr>
              <a:t>ANALYSIS BY LOCATION</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967" y="1295400"/>
            <a:ext cx="4114800" cy="274320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4006538"/>
            <a:ext cx="4406113" cy="2319445"/>
          </a:xfrm>
          <a:prstGeom prst="rect">
            <a:avLst/>
          </a:prstGeom>
        </p:spPr>
      </p:pic>
      <p:graphicFrame>
        <p:nvGraphicFramePr>
          <p:cNvPr id="7" name="Diagram 6"/>
          <p:cNvGraphicFramePr/>
          <p:nvPr>
            <p:extLst>
              <p:ext uri="{D42A27DB-BD31-4B8C-83A1-F6EECF244321}">
                <p14:modId xmlns:p14="http://schemas.microsoft.com/office/powerpoint/2010/main" val="3942990175"/>
              </p:ext>
            </p:extLst>
          </p:nvPr>
        </p:nvGraphicFramePr>
        <p:xfrm>
          <a:off x="4800600" y="2209800"/>
          <a:ext cx="3429000"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69539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_Light"/>
          <p:cNvSpPr>
            <a:spLocks noGrp="1"/>
          </p:cNvSpPr>
          <p:nvPr/>
        </p:nvSpPr>
        <p:spPr>
          <a:xfrm>
            <a:off x="0" y="0"/>
            <a:ext cx="9144000" cy="6858000"/>
          </a:xfrm>
          <a:prstGeom prst="rect">
            <a:avLst/>
          </a:prstGeom>
          <a:solidFill>
            <a:srgbClr val="F0F4FA"/>
          </a:solidFill>
          <a:ln>
            <a:noFill/>
          </a:ln>
        </p:spPr>
        <p:txBody>
          <a:bodyPr/>
          <a:lstStyle/>
          <a:p>
            <a:endParaRPr/>
          </a:p>
        </p:txBody>
      </p:sp>
      <p:sp>
        <p:nvSpPr>
          <p:cNvPr id="101" name="TitleBar"/>
          <p:cNvSpPr>
            <a:spLocks noGrp="1"/>
          </p:cNvSpPr>
          <p:nvPr/>
        </p:nvSpPr>
        <p:spPr>
          <a:xfrm>
            <a:off x="0" y="0"/>
            <a:ext cx="9144000" cy="1100000"/>
          </a:xfrm>
          <a:prstGeom prst="rect">
            <a:avLst/>
          </a:prstGeom>
          <a:solidFill>
            <a:srgbClr val="1B2A4A"/>
          </a:solidFill>
          <a:ln>
            <a:noFill/>
          </a:ln>
        </p:spPr>
        <p:txBody>
          <a:bodyPr/>
          <a:lstStyle/>
          <a:p>
            <a:endParaRPr/>
          </a:p>
        </p:txBody>
      </p:sp>
      <p:sp>
        <p:nvSpPr>
          <p:cNvPr id="102" name="GoldBar"/>
          <p:cNvSpPr>
            <a:spLocks noGrp="1"/>
          </p:cNvSpPr>
          <p:nvPr/>
        </p:nvSpPr>
        <p:spPr>
          <a:xfrm>
            <a:off x="0" y="1100000"/>
            <a:ext cx="9144000" cy="55000"/>
          </a:xfrm>
          <a:prstGeom prst="rect">
            <a:avLst/>
          </a:prstGeom>
          <a:solidFill>
            <a:srgbClr val="C9A84C"/>
          </a:solidFill>
          <a:ln>
            <a:noFill/>
          </a:ln>
        </p:spPr>
        <p:txBody>
          <a:bodyPr/>
          <a:lstStyle/>
          <a:p>
            <a:endParaRPr/>
          </a:p>
        </p:txBody>
      </p:sp>
      <p:sp>
        <p:nvSpPr>
          <p:cNvPr id="103" name="BottomBar"/>
          <p:cNvSpPr>
            <a:spLocks noGrp="1"/>
          </p:cNvSpPr>
          <p:nvPr/>
        </p:nvSpPr>
        <p:spPr>
          <a:xfrm>
            <a:off x="0" y="6400000"/>
            <a:ext cx="9144000" cy="458000"/>
          </a:xfrm>
          <a:prstGeom prst="rect">
            <a:avLst/>
          </a:prstGeom>
          <a:solidFill>
            <a:srgbClr val="2C3E6B"/>
          </a:solidFill>
          <a:ln>
            <a:noFill/>
          </a:ln>
        </p:spPr>
        <p:txBody>
          <a:bodyPr anchor="ctr"/>
          <a:lstStyle/>
          <a:p>
            <a:pPr algn="r"/>
            <a:r>
              <a:rPr lang="en-US" sz="900" b="0">
                <a:solidFill>
                  <a:srgbClr val="AABBCC"/>
                </a:solidFill>
              </a:rPr>
              <a:t>B &amp; J Biscuit Company  |  Retail Sales Analysis</a:t>
            </a:r>
          </a:p>
        </p:txBody>
      </p:sp>
      <p:sp>
        <p:nvSpPr>
          <p:cNvPr id="2" name="Title 1"/>
          <p:cNvSpPr>
            <a:spLocks noGrp="1"/>
          </p:cNvSpPr>
          <p:nvPr>
            <p:ph type="title"/>
          </p:nvPr>
        </p:nvSpPr>
        <p:spPr>
          <a:xfrm>
            <a:off x="457200" y="130000"/>
            <a:ext cx="8229600" cy="840000"/>
          </a:xfrm>
        </p:spPr>
        <p:txBody>
          <a:bodyPr/>
          <a:lstStyle/>
          <a:p>
            <a:r>
              <a:rPr lang="en-US" dirty="0" smtClean="0">
                <a:solidFill>
                  <a:srgbClr val="FFFFFF"/>
                </a:solidFill>
              </a:rPr>
              <a:t>TOP BUYERS</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 y="1905000"/>
            <a:ext cx="8229600" cy="2590800"/>
          </a:xfrm>
        </p:spPr>
      </p:pic>
    </p:spTree>
    <p:extLst>
      <p:ext uri="{BB962C8B-B14F-4D97-AF65-F5344CB8AC3E}">
        <p14:creationId xmlns:p14="http://schemas.microsoft.com/office/powerpoint/2010/main" val="3747111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_Light"/>
          <p:cNvSpPr>
            <a:spLocks noGrp="1"/>
          </p:cNvSpPr>
          <p:nvPr/>
        </p:nvSpPr>
        <p:spPr>
          <a:xfrm>
            <a:off x="0" y="0"/>
            <a:ext cx="9144000" cy="6858000"/>
          </a:xfrm>
          <a:prstGeom prst="rect">
            <a:avLst/>
          </a:prstGeom>
          <a:solidFill>
            <a:srgbClr val="F0F4FA"/>
          </a:solidFill>
          <a:ln>
            <a:noFill/>
          </a:ln>
        </p:spPr>
        <p:txBody>
          <a:bodyPr/>
          <a:lstStyle/>
          <a:p>
            <a:endParaRPr/>
          </a:p>
        </p:txBody>
      </p:sp>
      <p:sp>
        <p:nvSpPr>
          <p:cNvPr id="101" name="TitleBar"/>
          <p:cNvSpPr>
            <a:spLocks noGrp="1"/>
          </p:cNvSpPr>
          <p:nvPr/>
        </p:nvSpPr>
        <p:spPr>
          <a:xfrm>
            <a:off x="0" y="0"/>
            <a:ext cx="9144000" cy="1100000"/>
          </a:xfrm>
          <a:prstGeom prst="rect">
            <a:avLst/>
          </a:prstGeom>
          <a:solidFill>
            <a:srgbClr val="1B2A4A"/>
          </a:solidFill>
          <a:ln>
            <a:noFill/>
          </a:ln>
        </p:spPr>
        <p:txBody>
          <a:bodyPr/>
          <a:lstStyle/>
          <a:p>
            <a:endParaRPr/>
          </a:p>
        </p:txBody>
      </p:sp>
      <p:sp>
        <p:nvSpPr>
          <p:cNvPr id="102" name="GoldBar"/>
          <p:cNvSpPr>
            <a:spLocks noGrp="1"/>
          </p:cNvSpPr>
          <p:nvPr/>
        </p:nvSpPr>
        <p:spPr>
          <a:xfrm>
            <a:off x="0" y="1100000"/>
            <a:ext cx="9144000" cy="55000"/>
          </a:xfrm>
          <a:prstGeom prst="rect">
            <a:avLst/>
          </a:prstGeom>
          <a:solidFill>
            <a:srgbClr val="C9A84C"/>
          </a:solidFill>
          <a:ln>
            <a:noFill/>
          </a:ln>
        </p:spPr>
        <p:txBody>
          <a:bodyPr/>
          <a:lstStyle/>
          <a:p>
            <a:endParaRPr/>
          </a:p>
        </p:txBody>
      </p:sp>
      <p:sp>
        <p:nvSpPr>
          <p:cNvPr id="103" name="BottomBar"/>
          <p:cNvSpPr>
            <a:spLocks noGrp="1"/>
          </p:cNvSpPr>
          <p:nvPr/>
        </p:nvSpPr>
        <p:spPr>
          <a:xfrm>
            <a:off x="0" y="6400000"/>
            <a:ext cx="9144000" cy="458000"/>
          </a:xfrm>
          <a:prstGeom prst="rect">
            <a:avLst/>
          </a:prstGeom>
          <a:solidFill>
            <a:srgbClr val="2C3E6B"/>
          </a:solidFill>
          <a:ln>
            <a:noFill/>
          </a:ln>
        </p:spPr>
        <p:txBody>
          <a:bodyPr anchor="ctr"/>
          <a:lstStyle/>
          <a:p>
            <a:pPr algn="r"/>
            <a:r>
              <a:rPr lang="en-US" sz="900" b="0">
                <a:solidFill>
                  <a:srgbClr val="AABBCC"/>
                </a:solidFill>
              </a:rPr>
              <a:t>B &amp; J Biscuit Company  |  Retail Sales Analysis</a:t>
            </a:r>
          </a:p>
        </p:txBody>
      </p:sp>
      <p:sp>
        <p:nvSpPr>
          <p:cNvPr id="2" name="Title 1"/>
          <p:cNvSpPr>
            <a:spLocks noGrp="1"/>
          </p:cNvSpPr>
          <p:nvPr>
            <p:ph type="title"/>
          </p:nvPr>
        </p:nvSpPr>
        <p:spPr>
          <a:xfrm>
            <a:off x="457200" y="130000"/>
            <a:ext cx="8229600" cy="840000"/>
          </a:xfrm>
        </p:spPr>
        <p:txBody>
          <a:bodyPr/>
          <a:lstStyle/>
          <a:p>
            <a:r>
              <a:rPr lang="en-US" dirty="0" smtClean="0">
                <a:solidFill>
                  <a:srgbClr val="FFFFFF"/>
                </a:solidFill>
              </a:rPr>
              <a:t>DASHBOARD</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476" y="1295401"/>
            <a:ext cx="9003324" cy="4876800"/>
          </a:xfrm>
        </p:spPr>
      </p:pic>
    </p:spTree>
    <p:extLst>
      <p:ext uri="{BB962C8B-B14F-4D97-AF65-F5344CB8AC3E}">
        <p14:creationId xmlns:p14="http://schemas.microsoft.com/office/powerpoint/2010/main" val="839301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
          <p:cNvSpPr>
            <a:spLocks noGrp="1"/>
          </p:cNvSpPr>
          <p:nvPr/>
        </p:nvSpPr>
        <p:spPr>
          <a:xfrm>
            <a:off x="0" y="0"/>
            <a:ext cx="9144000" cy="6858000"/>
          </a:xfrm>
          <a:prstGeom prst="rect">
            <a:avLst/>
          </a:prstGeom>
          <a:solidFill>
            <a:srgbClr val="F0F4FA"/>
          </a:solidFill>
          <a:ln>
            <a:noFill/>
          </a:ln>
        </p:spPr>
        <p:txBody>
          <a:bodyPr/>
          <a:lstStyle/>
          <a:p>
            <a:endParaRPr/>
          </a:p>
        </p:txBody>
      </p:sp>
      <p:sp>
        <p:nvSpPr>
          <p:cNvPr id="101" name="TitleBar"/>
          <p:cNvSpPr>
            <a:spLocks noGrp="1"/>
          </p:cNvSpPr>
          <p:nvPr/>
        </p:nvSpPr>
        <p:spPr>
          <a:xfrm>
            <a:off x="0" y="0"/>
            <a:ext cx="9144000" cy="1100000"/>
          </a:xfrm>
          <a:prstGeom prst="rect">
            <a:avLst/>
          </a:prstGeom>
          <a:solidFill>
            <a:srgbClr val="1B2A4A"/>
          </a:solidFill>
          <a:ln>
            <a:noFill/>
          </a:ln>
        </p:spPr>
        <p:txBody>
          <a:bodyPr/>
          <a:lstStyle/>
          <a:p>
            <a:endParaRPr/>
          </a:p>
        </p:txBody>
      </p:sp>
      <p:sp>
        <p:nvSpPr>
          <p:cNvPr id="102" name="GoldBar"/>
          <p:cNvSpPr>
            <a:spLocks noGrp="1"/>
          </p:cNvSpPr>
          <p:nvPr/>
        </p:nvSpPr>
        <p:spPr>
          <a:xfrm>
            <a:off x="0" y="1100000"/>
            <a:ext cx="9144000" cy="55000"/>
          </a:xfrm>
          <a:prstGeom prst="rect">
            <a:avLst/>
          </a:prstGeom>
          <a:solidFill>
            <a:srgbClr val="C9A84C"/>
          </a:solidFill>
          <a:ln>
            <a:noFill/>
          </a:ln>
        </p:spPr>
        <p:txBody>
          <a:bodyPr/>
          <a:lstStyle/>
          <a:p>
            <a:endParaRPr/>
          </a:p>
        </p:txBody>
      </p:sp>
      <p:sp>
        <p:nvSpPr>
          <p:cNvPr id="103" name="BottomBar"/>
          <p:cNvSpPr>
            <a:spLocks noGrp="1"/>
          </p:cNvSpPr>
          <p:nvPr/>
        </p:nvSpPr>
        <p:spPr>
          <a:xfrm>
            <a:off x="0" y="6400000"/>
            <a:ext cx="9144000" cy="458000"/>
          </a:xfrm>
          <a:prstGeom prst="rect">
            <a:avLst/>
          </a:prstGeom>
          <a:solidFill>
            <a:srgbClr val="2C3E6B"/>
          </a:solidFill>
          <a:ln>
            <a:noFill/>
          </a:ln>
        </p:spPr>
        <p:txBody>
          <a:bodyPr anchor="ctr"/>
          <a:lstStyle/>
          <a:p>
            <a:pPr algn="r"/>
            <a:r>
              <a:rPr lang="en-US" sz="900" b="0">
                <a:solidFill>
                  <a:srgbClr val="AABBCC"/>
                </a:solidFill>
              </a:rPr>
              <a:t>B &amp; J Biscuit Company  |  Retail Sales Analysis</a:t>
            </a:r>
          </a:p>
        </p:txBody>
      </p:sp>
      <p:sp>
        <p:nvSpPr>
          <p:cNvPr id="2" name="Title"/>
          <p:cNvSpPr>
            <a:spLocks noGrp="1"/>
          </p:cNvSpPr>
          <p:nvPr>
            <p:ph type="title"/>
          </p:nvPr>
        </p:nvSpPr>
        <p:spPr>
          <a:xfrm>
            <a:off x="457200" y="130000"/>
            <a:ext cx="8229600" cy="840000"/>
          </a:xfrm>
        </p:spPr>
        <p:txBody>
          <a:bodyPr anchor="ctr"/>
          <a:lstStyle/>
          <a:p>
            <a:pPr algn="l"/>
            <a:r>
              <a:rPr lang="en-US" sz="3200" b="1" dirty="0">
                <a:solidFill>
                  <a:srgbClr val="FFFFFF"/>
                </a:solidFill>
                <a:latin typeface="Calibri"/>
              </a:rPr>
              <a:t>KEY INSIGHTS</a:t>
            </a:r>
          </a:p>
        </p:txBody>
      </p:sp>
      <p:sp>
        <p:nvSpPr>
          <p:cNvPr id="200" name="Card1BG"/>
          <p:cNvSpPr>
            <a:spLocks noGrp="1"/>
          </p:cNvSpPr>
          <p:nvPr/>
        </p:nvSpPr>
        <p:spPr>
          <a:xfrm>
            <a:off x="457200" y="1400000"/>
            <a:ext cx="3900000" cy="4700000"/>
          </a:xfrm>
          <a:prstGeom prst="roundRect">
            <a:avLst>
              <a:gd name="adj" fmla="val 30000"/>
            </a:avLst>
          </a:prstGeom>
          <a:solidFill>
            <a:srgbClr val="1B2A4A"/>
          </a:solidFill>
          <a:ln w="18000">
            <a:solidFill>
              <a:srgbClr val="C9A84C"/>
            </a:solidFill>
          </a:ln>
        </p:spPr>
        <p:txBody>
          <a:bodyPr/>
          <a:lstStyle/>
          <a:p>
            <a:endParaRPr/>
          </a:p>
        </p:txBody>
      </p:sp>
      <p:sp>
        <p:nvSpPr>
          <p:cNvPr id="201" name="Card1Icon"/>
          <p:cNvSpPr>
            <a:spLocks noGrp="1"/>
          </p:cNvSpPr>
          <p:nvPr/>
        </p:nvSpPr>
        <p:spPr>
          <a:xfrm>
            <a:off x="1957200" y="1550000"/>
            <a:ext cx="800000" cy="800000"/>
          </a:xfrm>
          <a:prstGeom prst="ellipse">
            <a:avLst/>
          </a:prstGeom>
          <a:solidFill>
            <a:srgbClr val="C9A84C"/>
          </a:solidFill>
          <a:ln>
            <a:noFill/>
          </a:ln>
        </p:spPr>
        <p:txBody>
          <a:bodyPr anchor="ctr"/>
          <a:lstStyle/>
          <a:p>
            <a:pPr algn="ctr"/>
            <a:r>
              <a:rPr lang="en-US" sz="2400" b="1">
                <a:solidFill>
                  <a:srgbClr val="1B2A4A"/>
                </a:solidFill>
                <a:latin typeface="Wingdings"/>
              </a:rPr>
              <a:t>★</a:t>
            </a:r>
          </a:p>
        </p:txBody>
      </p:sp>
      <p:sp>
        <p:nvSpPr>
          <p:cNvPr id="202" name="Card1Heading"/>
          <p:cNvSpPr>
            <a:spLocks noGrp="1"/>
          </p:cNvSpPr>
          <p:nvPr/>
        </p:nvSpPr>
        <p:spPr>
          <a:xfrm>
            <a:off x="557200" y="2500000"/>
            <a:ext cx="3700000" cy="500000"/>
          </a:xfrm>
          <a:prstGeom prst="rect">
            <a:avLst/>
          </a:prstGeom>
          <a:noFill/>
        </p:spPr>
        <p:txBody>
          <a:bodyPr anchor="ctr"/>
          <a:lstStyle/>
          <a:p>
            <a:pPr algn="ctr"/>
            <a:r>
              <a:rPr lang="en-US" sz="1800" b="1">
                <a:solidFill>
                  <a:srgbClr val="C9A84C"/>
                </a:solidFill>
                <a:latin typeface="Calibri"/>
              </a:rPr>
              <a:t>TOP PRODUCT</a:t>
            </a:r>
          </a:p>
        </p:txBody>
      </p:sp>
      <p:sp>
        <p:nvSpPr>
          <p:cNvPr id="203" name="Card1Body"/>
          <p:cNvSpPr>
            <a:spLocks noGrp="1"/>
          </p:cNvSpPr>
          <p:nvPr/>
        </p:nvSpPr>
        <p:spPr>
          <a:xfrm>
            <a:off x="607200" y="3100000"/>
            <a:ext cx="3600000" cy="2700000"/>
          </a:xfrm>
          <a:prstGeom prst="rect">
            <a:avLst/>
          </a:prstGeom>
          <a:noFill/>
        </p:spPr>
        <p:txBody>
          <a:bodyPr wrap="square" anchor="t"/>
          <a:lstStyle/>
          <a:p>
            <a:pPr algn="ctr"/>
            <a:r>
              <a:rPr lang="en-US" sz="1400" b="0">
                <a:solidFill>
                  <a:srgbClr val="CADCFC"/>
                </a:solidFill>
                <a:latin typeface="Calibri"/>
              </a:rPr>
              <a:t>The highest revenue-generating product is</a:t>
            </a:r>
          </a:p>
          <a:p>
            <a:pPr algn="ctr"/>
            <a:r>
              <a:rPr lang="en-US" sz="2800" b="1">
                <a:solidFill>
                  <a:srgbClr val="FFFFFF"/>
                </a:solidFill>
                <a:latin typeface="Calibri"/>
              </a:rPr>
              <a:t>UNIBICS</a:t>
            </a:r>
          </a:p>
          <a:p>
            <a:endParaRPr/>
          </a:p>
          <a:p>
            <a:pPr algn="ctr"/>
            <a:r>
              <a:rPr lang="en-US" sz="1300" b="0">
                <a:solidFill>
                  <a:srgbClr val="CADCFC"/>
                </a:solidFill>
                <a:latin typeface="Calibri"/>
              </a:rPr>
              <a:t>Purchased mostly by</a:t>
            </a:r>
          </a:p>
          <a:p>
            <a:pPr algn="ctr"/>
            <a:r>
              <a:rPr lang="en-US" sz="1800" b="1">
                <a:solidFill>
                  <a:srgbClr val="C9A84C"/>
                </a:solidFill>
                <a:latin typeface="Calibri"/>
              </a:rPr>
              <a:t>MALE  |  Age 69+</a:t>
            </a:r>
          </a:p>
        </p:txBody>
      </p:sp>
      <p:sp>
        <p:nvSpPr>
          <p:cNvPr id="210" name="Card2BG"/>
          <p:cNvSpPr>
            <a:spLocks noGrp="1"/>
          </p:cNvSpPr>
          <p:nvPr/>
        </p:nvSpPr>
        <p:spPr>
          <a:xfrm>
            <a:off x="4786800" y="1400000"/>
            <a:ext cx="3900000" cy="4700000"/>
          </a:xfrm>
          <a:prstGeom prst="roundRect">
            <a:avLst>
              <a:gd name="adj" fmla="val 30000"/>
            </a:avLst>
          </a:prstGeom>
          <a:solidFill>
            <a:srgbClr val="1B2A4A"/>
          </a:solidFill>
          <a:ln w="18000">
            <a:solidFill>
              <a:srgbClr val="C9A84C"/>
            </a:solidFill>
          </a:ln>
        </p:spPr>
        <p:txBody>
          <a:bodyPr/>
          <a:lstStyle/>
          <a:p>
            <a:endParaRPr/>
          </a:p>
        </p:txBody>
      </p:sp>
      <p:sp>
        <p:nvSpPr>
          <p:cNvPr id="211" name="Card2Icon"/>
          <p:cNvSpPr>
            <a:spLocks noGrp="1"/>
          </p:cNvSpPr>
          <p:nvPr/>
        </p:nvSpPr>
        <p:spPr>
          <a:xfrm>
            <a:off x="6286800" y="1550000"/>
            <a:ext cx="800000" cy="800000"/>
          </a:xfrm>
          <a:prstGeom prst="ellipse">
            <a:avLst/>
          </a:prstGeom>
          <a:solidFill>
            <a:srgbClr val="C9A84C"/>
          </a:solidFill>
          <a:ln>
            <a:noFill/>
          </a:ln>
        </p:spPr>
        <p:txBody>
          <a:bodyPr anchor="ctr"/>
          <a:lstStyle/>
          <a:p>
            <a:pPr algn="ctr"/>
            <a:r>
              <a:rPr lang="en-US" sz="2400" b="1">
                <a:solidFill>
                  <a:srgbClr val="1B2A4A"/>
                </a:solidFill>
                <a:latin typeface="Wingdings"/>
              </a:rPr>
              <a:t>⚠</a:t>
            </a:r>
          </a:p>
        </p:txBody>
      </p:sp>
      <p:sp>
        <p:nvSpPr>
          <p:cNvPr id="212" name="Card2Heading"/>
          <p:cNvSpPr>
            <a:spLocks noGrp="1"/>
          </p:cNvSpPr>
          <p:nvPr/>
        </p:nvSpPr>
        <p:spPr>
          <a:xfrm>
            <a:off x="4886800" y="2500000"/>
            <a:ext cx="3700000" cy="500000"/>
          </a:xfrm>
          <a:prstGeom prst="rect">
            <a:avLst/>
          </a:prstGeom>
          <a:noFill/>
        </p:spPr>
        <p:txBody>
          <a:bodyPr anchor="ctr"/>
          <a:lstStyle/>
          <a:p>
            <a:pPr algn="ctr"/>
            <a:r>
              <a:rPr lang="en-US" sz="1800" b="1">
                <a:solidFill>
                  <a:srgbClr val="C9A84C"/>
                </a:solidFill>
                <a:latin typeface="Calibri"/>
              </a:rPr>
              <a:t>GROWTH OPPORTUNITY</a:t>
            </a:r>
          </a:p>
        </p:txBody>
      </p:sp>
      <p:sp>
        <p:nvSpPr>
          <p:cNvPr id="213" name="Card2Body"/>
          <p:cNvSpPr>
            <a:spLocks noGrp="1"/>
          </p:cNvSpPr>
          <p:nvPr/>
        </p:nvSpPr>
        <p:spPr>
          <a:xfrm>
            <a:off x="4936800" y="3100000"/>
            <a:ext cx="3600000" cy="2700000"/>
          </a:xfrm>
          <a:prstGeom prst="rect">
            <a:avLst/>
          </a:prstGeom>
          <a:noFill/>
        </p:spPr>
        <p:txBody>
          <a:bodyPr wrap="square" anchor="t"/>
          <a:lstStyle/>
          <a:p>
            <a:pPr algn="ctr"/>
            <a:r>
              <a:rPr lang="en-US" sz="1400" b="0">
                <a:solidFill>
                  <a:srgbClr val="CADCFC"/>
                </a:solidFill>
                <a:latin typeface="Calibri"/>
              </a:rPr>
              <a:t>Least selling brand that needs focus</a:t>
            </a:r>
          </a:p>
          <a:p>
            <a:pPr algn="ctr"/>
            <a:r>
              <a:rPr lang="en-US" sz="2800" b="1">
                <a:solidFill>
                  <a:srgbClr val="FFFFFF"/>
                </a:solidFill>
                <a:latin typeface="Calibri"/>
              </a:rPr>
              <a:t>SUNFEAST</a:t>
            </a:r>
          </a:p>
          <a:p>
            <a:endParaRPr/>
          </a:p>
          <a:p>
            <a:pPr algn="ctr"/>
            <a:r>
              <a:rPr lang="en-US" sz="1300" b="0">
                <a:solidFill>
                  <a:srgbClr val="CADCFC"/>
                </a:solidFill>
                <a:latin typeface="Calibri"/>
              </a:rPr>
              <a:t>Target demographic</a:t>
            </a:r>
          </a:p>
          <a:p>
            <a:pPr algn="ctr"/>
            <a:r>
              <a:rPr lang="en-US" sz="1800" b="1">
                <a:solidFill>
                  <a:srgbClr val="C9A84C"/>
                </a:solidFill>
                <a:latin typeface="Calibri"/>
              </a:rPr>
              <a:t>Age Group  |  29 - 38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BG_Biscuit"/>
          <p:cNvPicPr>
            <a:picLocks noChangeAspect="1"/>
          </p:cNvPicPr>
          <p:nvPr/>
        </p:nvPicPr>
        <p:blipFill>
          <a:blip r:embed="rId2"/>
          <a:stretch>
            <a:fillRect/>
          </a:stretch>
        </p:blipFill>
        <p:spPr>
          <a:xfrm>
            <a:off x="0" y="0"/>
            <a:ext cx="9144000" cy="6858000"/>
          </a:xfrm>
          <a:prstGeom prst="rect">
            <a:avLst/>
          </a:prstGeom>
        </p:spPr>
      </p:pic>
      <p:sp>
        <p:nvSpPr>
          <p:cNvPr id="104" name="GoldAccent"/>
          <p:cNvSpPr>
            <a:spLocks noGrp="1"/>
          </p:cNvSpPr>
          <p:nvPr/>
        </p:nvSpPr>
        <p:spPr>
          <a:xfrm>
            <a:off x="685800" y="2300000"/>
            <a:ext cx="3000000" cy="80000"/>
          </a:xfrm>
          <a:prstGeom prst="rect">
            <a:avLst/>
          </a:prstGeom>
          <a:solidFill>
            <a:srgbClr val="C9A84C"/>
          </a:solidFill>
          <a:ln>
            <a:noFill/>
          </a:ln>
        </p:spPr>
        <p:txBody>
          <a:bodyPr/>
          <a:lstStyle/>
          <a:p>
            <a:endParaRPr/>
          </a:p>
        </p:txBody>
      </p:sp>
      <p:sp>
        <p:nvSpPr>
          <p:cNvPr id="4" name="Title 3"/>
          <p:cNvSpPr>
            <a:spLocks noGrp="1"/>
          </p:cNvSpPr>
          <p:nvPr>
            <p:ph type="title"/>
          </p:nvPr>
        </p:nvSpPr>
        <p:spPr>
          <a:xfrm>
            <a:off x="685800" y="2500000"/>
            <a:ext cx="8229600" cy="1143000"/>
          </a:xfrm>
        </p:spPr>
        <p:txBody>
          <a:bodyPr anchor="ctr">
            <a:normAutofit fontScale="90000"/>
          </a:bodyPr>
          <a:lstStyle/>
          <a:p>
            <a:pPr algn="l"/>
            <a:r>
              <a:rPr lang="en-US" sz="5400" b="1" dirty="0" smtClean="0">
                <a:solidFill>
                  <a:srgbClr val="FFFFFF"/>
                </a:solidFill>
                <a:latin typeface="Calibri"/>
              </a:rPr>
              <a:t>THANK YOU</a:t>
            </a:r>
          </a:p>
          <a:p>
            <a:pPr algn="l"/>
            <a:r>
              <a:rPr lang="en-US" sz="1600" b="0" dirty="0">
                <a:solidFill>
                  <a:srgbClr val="C9A84C"/>
                </a:solidFill>
                <a:latin typeface="Calibri"/>
              </a:rPr>
              <a:t>B &amp; J Biscuit Company  |  Retail Sales Analysis</a:t>
            </a:r>
          </a:p>
        </p:txBody>
      </p:sp>
    </p:spTree>
    <p:extLst>
      <p:ext uri="{BB962C8B-B14F-4D97-AF65-F5344CB8AC3E}">
        <p14:creationId xmlns:p14="http://schemas.microsoft.com/office/powerpoint/2010/main" val="3641585863"/>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Theme2</Template>
  <TotalTime>103</TotalTime>
  <Words>274</Words>
  <Application>Microsoft Office PowerPoint</Application>
  <PresentationFormat>On-screen Show (4:3)</PresentationFormat>
  <Paragraphs>55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Theme2</vt:lpstr>
      <vt:lpstr>B &amp; J BISCUIT COMPANY</vt:lpstr>
      <vt:lpstr>DATA SET OVERVIEW</vt:lpstr>
      <vt:lpstr>DATA CLEANING</vt:lpstr>
      <vt:lpstr>REVENUE BY PRODUCTS</vt:lpstr>
      <vt:lpstr>PowerPoint Presentation</vt:lpstr>
      <vt:lpstr>GENDER ANALYSIS</vt:lpstr>
      <vt:lpstr>PowerPoint Presentation</vt:lpstr>
      <vt:lpstr>AGE GROUP ANALYSIS</vt:lpstr>
      <vt:lpstr>ANALYSIS BY LOCATION</vt:lpstr>
      <vt:lpstr>TOP BUYERS</vt:lpstr>
      <vt:lpstr>DASHBOARD</vt:lpstr>
      <vt:lpstr>KEY INSIGHTS</vt:lpstr>
      <vt:lpstr>THANK YOU B &amp; J Biscuit Company  |  Retail Sales Analysis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 &amp; J BISCUIT COMPANY</dc:title>
  <dc:creator>Selvam</dc:creator>
  <cp:lastModifiedBy>Selvam</cp:lastModifiedBy>
  <cp:revision>17</cp:revision>
  <dcterms:created xsi:type="dcterms:W3CDTF">2006-08-16T00:00:00Z</dcterms:created>
  <dcterms:modified xsi:type="dcterms:W3CDTF">2026-05-07T06:56:59Z</dcterms:modified>
</cp:coreProperties>
</file>